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10"/>
    <p:restoredTop sz="94584"/>
  </p:normalViewPr>
  <p:slideViewPr>
    <p:cSldViewPr snapToGrid="0">
      <p:cViewPr varScale="1">
        <p:scale>
          <a:sx n="85" d="100"/>
          <a:sy n="85" d="100"/>
        </p:scale>
        <p:origin x="1160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9BDF6DE-A8A2-574A-9103-1F13AD559C34}" type="doc">
      <dgm:prSet loTypeId="urn:microsoft.com/office/officeart/2005/8/layout/lProcess3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28677FF1-3A69-A748-9D61-35F5C358935F}">
      <dgm:prSet phldrT="[Texte]"/>
      <dgm:spPr/>
      <dgm:t>
        <a:bodyPr/>
        <a:lstStyle/>
        <a:p>
          <a:r>
            <a:rPr lang="fr-FR" dirty="0" err="1"/>
            <a:t>Sample</a:t>
          </a:r>
          <a:r>
            <a:rPr lang="fr-FR" dirty="0"/>
            <a:t> have to </a:t>
          </a:r>
          <a:r>
            <a:rPr lang="fr-FR" dirty="0" err="1"/>
            <a:t>be</a:t>
          </a:r>
          <a:r>
            <a:rPr lang="fr-FR" dirty="0"/>
            <a:t> &gt;50</a:t>
          </a:r>
        </a:p>
      </dgm:t>
    </dgm:pt>
    <dgm:pt modelId="{D7D50B19-D4C7-F34E-8B1A-6F06E527D6C6}" type="parTrans" cxnId="{DAC38180-0889-3946-B15F-FDAE5B17977A}">
      <dgm:prSet/>
      <dgm:spPr/>
      <dgm:t>
        <a:bodyPr/>
        <a:lstStyle/>
        <a:p>
          <a:endParaRPr lang="fr-FR"/>
        </a:p>
      </dgm:t>
    </dgm:pt>
    <dgm:pt modelId="{2543A987-6FD2-3B4C-A26F-C4AB37C6E9AD}" type="sibTrans" cxnId="{DAC38180-0889-3946-B15F-FDAE5B17977A}">
      <dgm:prSet/>
      <dgm:spPr/>
      <dgm:t>
        <a:bodyPr/>
        <a:lstStyle/>
        <a:p>
          <a:endParaRPr lang="fr-FR"/>
        </a:p>
      </dgm:t>
    </dgm:pt>
    <dgm:pt modelId="{D4631C6F-3FC0-4F4A-A9A8-5A09890744C2}">
      <dgm:prSet phldrT="[Texte]"/>
      <dgm:spPr/>
      <dgm:t>
        <a:bodyPr/>
        <a:lstStyle/>
        <a:p>
          <a:r>
            <a:rPr lang="fr-FR" dirty="0"/>
            <a:t>Variable </a:t>
          </a:r>
          <a:r>
            <a:rPr lang="fr-FR" dirty="0" err="1"/>
            <a:t>should</a:t>
          </a:r>
          <a:r>
            <a:rPr lang="fr-FR" dirty="0"/>
            <a:t> </a:t>
          </a:r>
          <a:r>
            <a:rPr lang="fr-FR" dirty="0" err="1"/>
            <a:t>be</a:t>
          </a:r>
          <a:r>
            <a:rPr lang="fr-FR" dirty="0"/>
            <a:t> </a:t>
          </a:r>
          <a:r>
            <a:rPr lang="fr-FR" dirty="0" err="1"/>
            <a:t>normally</a:t>
          </a:r>
          <a:r>
            <a:rPr lang="fr-FR" dirty="0"/>
            <a:t> </a:t>
          </a:r>
          <a:r>
            <a:rPr lang="fr-FR" dirty="0" err="1"/>
            <a:t>distributed</a:t>
          </a:r>
          <a:endParaRPr lang="fr-FR" dirty="0"/>
        </a:p>
      </dgm:t>
    </dgm:pt>
    <dgm:pt modelId="{FAC67488-F731-5C4C-A045-FD832D708851}" type="parTrans" cxnId="{2EBFD6C3-2A45-5543-8251-D7A552CECDFC}">
      <dgm:prSet/>
      <dgm:spPr/>
      <dgm:t>
        <a:bodyPr/>
        <a:lstStyle/>
        <a:p>
          <a:endParaRPr lang="fr-FR"/>
        </a:p>
      </dgm:t>
    </dgm:pt>
    <dgm:pt modelId="{E8F7EB3A-4963-2040-82CF-95196A55F09A}" type="sibTrans" cxnId="{2EBFD6C3-2A45-5543-8251-D7A552CECDFC}">
      <dgm:prSet/>
      <dgm:spPr/>
      <dgm:t>
        <a:bodyPr/>
        <a:lstStyle/>
        <a:p>
          <a:endParaRPr lang="fr-FR"/>
        </a:p>
      </dgm:t>
    </dgm:pt>
    <dgm:pt modelId="{89129042-8C55-724D-BE9F-46ECA4D4D5C5}">
      <dgm:prSet phldrT="[Texte]"/>
      <dgm:spPr/>
      <dgm:t>
        <a:bodyPr/>
        <a:lstStyle/>
        <a:p>
          <a:r>
            <a:rPr lang="fr-FR" dirty="0"/>
            <a:t>Test </a:t>
          </a:r>
          <a:r>
            <a:rPr lang="fr-FR" dirty="0" err="1"/>
            <a:t>using</a:t>
          </a:r>
          <a:r>
            <a:rPr lang="fr-FR" dirty="0"/>
            <a:t> q-q plot</a:t>
          </a:r>
        </a:p>
      </dgm:t>
    </dgm:pt>
    <dgm:pt modelId="{68093691-3BC5-A148-BB06-604F952D475E}" type="parTrans" cxnId="{6205AC10-6A70-574F-9A75-085769B14FED}">
      <dgm:prSet/>
      <dgm:spPr/>
      <dgm:t>
        <a:bodyPr/>
        <a:lstStyle/>
        <a:p>
          <a:endParaRPr lang="fr-FR"/>
        </a:p>
      </dgm:t>
    </dgm:pt>
    <dgm:pt modelId="{D85DC3EB-D4DD-1D4F-ACC2-651E22A088DD}" type="sibTrans" cxnId="{6205AC10-6A70-574F-9A75-085769B14FED}">
      <dgm:prSet/>
      <dgm:spPr/>
      <dgm:t>
        <a:bodyPr/>
        <a:lstStyle/>
        <a:p>
          <a:endParaRPr lang="fr-FR"/>
        </a:p>
      </dgm:t>
    </dgm:pt>
    <dgm:pt modelId="{EB590787-6685-F748-9087-F3EAAB6C840C}">
      <dgm:prSet phldrT="[Texte]"/>
      <dgm:spPr/>
      <dgm:t>
        <a:bodyPr/>
        <a:lstStyle/>
        <a:p>
          <a:r>
            <a:rPr lang="fr-FR" dirty="0"/>
            <a:t>Test </a:t>
          </a:r>
          <a:r>
            <a:rPr lang="fr-FR" dirty="0" err="1"/>
            <a:t>using</a:t>
          </a:r>
          <a:r>
            <a:rPr lang="fr-FR" dirty="0"/>
            <a:t> </a:t>
          </a:r>
          <a:r>
            <a:rPr lang="fr-FR" dirty="0" err="1"/>
            <a:t>probability</a:t>
          </a:r>
          <a:r>
            <a:rPr lang="fr-FR" dirty="0"/>
            <a:t> </a:t>
          </a:r>
          <a:r>
            <a:rPr lang="fr-FR" dirty="0" err="1"/>
            <a:t>density</a:t>
          </a:r>
          <a:r>
            <a:rPr lang="fr-FR" dirty="0"/>
            <a:t> </a:t>
          </a:r>
          <a:r>
            <a:rPr lang="fr-FR" dirty="0" err="1"/>
            <a:t>function</a:t>
          </a:r>
          <a:r>
            <a:rPr lang="fr-FR" dirty="0"/>
            <a:t> (PDF)</a:t>
          </a:r>
        </a:p>
      </dgm:t>
    </dgm:pt>
    <dgm:pt modelId="{7608C9A7-CB42-7843-96D8-6945DD11AB64}" type="parTrans" cxnId="{A4175FF8-C994-9640-A1FD-CA6300F4CA22}">
      <dgm:prSet/>
      <dgm:spPr/>
      <dgm:t>
        <a:bodyPr/>
        <a:lstStyle/>
        <a:p>
          <a:endParaRPr lang="fr-FR"/>
        </a:p>
      </dgm:t>
    </dgm:pt>
    <dgm:pt modelId="{7D188127-B259-544D-BC0A-1416B9736CBE}" type="sibTrans" cxnId="{A4175FF8-C994-9640-A1FD-CA6300F4CA22}">
      <dgm:prSet/>
      <dgm:spPr/>
      <dgm:t>
        <a:bodyPr/>
        <a:lstStyle/>
        <a:p>
          <a:endParaRPr lang="fr-FR"/>
        </a:p>
      </dgm:t>
    </dgm:pt>
    <dgm:pt modelId="{E49966ED-8D1B-454E-A415-DDFF72DEA796}">
      <dgm:prSet phldrT="[Texte]"/>
      <dgm:spPr/>
      <dgm:t>
        <a:bodyPr/>
        <a:lstStyle/>
        <a:p>
          <a:r>
            <a:rPr lang="fr-FR" dirty="0" err="1"/>
            <a:t>T</a:t>
          </a:r>
          <a:r>
            <a:rPr lang="fr-FR" dirty="0"/>
            <a:t>-Test</a:t>
          </a:r>
        </a:p>
      </dgm:t>
    </dgm:pt>
    <dgm:pt modelId="{C5342C89-D79B-5046-8CFE-22641E8124CC}" type="parTrans" cxnId="{2CA107D3-83FF-8042-88FD-1441F562510B}">
      <dgm:prSet/>
      <dgm:spPr/>
      <dgm:t>
        <a:bodyPr/>
        <a:lstStyle/>
        <a:p>
          <a:endParaRPr lang="fr-FR"/>
        </a:p>
      </dgm:t>
    </dgm:pt>
    <dgm:pt modelId="{BFAEECC2-F642-FF43-A04E-013F0EBB25E0}" type="sibTrans" cxnId="{2CA107D3-83FF-8042-88FD-1441F562510B}">
      <dgm:prSet/>
      <dgm:spPr/>
      <dgm:t>
        <a:bodyPr/>
        <a:lstStyle/>
        <a:p>
          <a:endParaRPr lang="fr-FR"/>
        </a:p>
      </dgm:t>
    </dgm:pt>
    <dgm:pt modelId="{95C285D1-DDA6-F145-A98B-C47AC3E6DCCE}">
      <dgm:prSet phldrT="[Texte]"/>
      <dgm:spPr/>
      <dgm:t>
        <a:bodyPr/>
        <a:lstStyle/>
        <a:p>
          <a:r>
            <a:rPr lang="fr-FR" dirty="0" err="1"/>
            <a:t>T</a:t>
          </a:r>
          <a:r>
            <a:rPr lang="fr-FR" dirty="0"/>
            <a:t>-Value = </a:t>
          </a:r>
          <a:r>
            <a:rPr lang="fr-FR" dirty="0" err="1"/>
            <a:t>wich</a:t>
          </a:r>
          <a:r>
            <a:rPr lang="fr-FR" dirty="0"/>
            <a:t> </a:t>
          </a:r>
          <a:r>
            <a:rPr lang="fr-FR" dirty="0" err="1"/>
            <a:t>mean</a:t>
          </a:r>
          <a:r>
            <a:rPr lang="fr-FR" dirty="0"/>
            <a:t> </a:t>
          </a:r>
          <a:r>
            <a:rPr lang="fr-FR" dirty="0" err="1"/>
            <a:t>is</a:t>
          </a:r>
          <a:r>
            <a:rPr lang="fr-FR" dirty="0"/>
            <a:t> the </a:t>
          </a:r>
          <a:r>
            <a:rPr lang="fr-FR" dirty="0" err="1"/>
            <a:t>biggest</a:t>
          </a:r>
          <a:endParaRPr lang="fr-FR" dirty="0"/>
        </a:p>
      </dgm:t>
    </dgm:pt>
    <dgm:pt modelId="{141CFB62-673F-F44D-B12E-0F454D19DC09}" type="parTrans" cxnId="{67D65F77-0273-0F4B-8EEC-2B2DCBE4A379}">
      <dgm:prSet/>
      <dgm:spPr/>
      <dgm:t>
        <a:bodyPr/>
        <a:lstStyle/>
        <a:p>
          <a:endParaRPr lang="fr-FR"/>
        </a:p>
      </dgm:t>
    </dgm:pt>
    <dgm:pt modelId="{8FB98327-E184-5645-8D77-B7178C66F0F6}" type="sibTrans" cxnId="{67D65F77-0273-0F4B-8EEC-2B2DCBE4A379}">
      <dgm:prSet/>
      <dgm:spPr/>
      <dgm:t>
        <a:bodyPr/>
        <a:lstStyle/>
        <a:p>
          <a:endParaRPr lang="fr-FR"/>
        </a:p>
      </dgm:t>
    </dgm:pt>
    <dgm:pt modelId="{09C6C237-AFA7-9A41-A6B9-4CD1DA0A0E62}">
      <dgm:prSet phldrT="[Texte]"/>
      <dgm:spPr/>
      <dgm:t>
        <a:bodyPr/>
        <a:lstStyle/>
        <a:p>
          <a:r>
            <a:rPr lang="fr-FR" dirty="0"/>
            <a:t>P-Value = </a:t>
          </a:r>
          <a:r>
            <a:rPr lang="fr-FR" dirty="0" err="1"/>
            <a:t>significance</a:t>
          </a:r>
          <a:r>
            <a:rPr lang="fr-FR" dirty="0"/>
            <a:t> </a:t>
          </a:r>
          <a:r>
            <a:rPr lang="fr-FR" dirty="0" err="1"/>
            <a:t>level</a:t>
          </a:r>
          <a:r>
            <a:rPr lang="fr-FR" dirty="0"/>
            <a:t>:</a:t>
          </a:r>
          <a:br>
            <a:rPr lang="fr-FR" dirty="0"/>
          </a:br>
          <a:r>
            <a:rPr lang="fr-FR" dirty="0"/>
            <a:t>if p&lt;0.05 </a:t>
          </a:r>
          <a:r>
            <a:rPr lang="fr-FR" dirty="0" err="1"/>
            <a:t>then</a:t>
          </a:r>
          <a:r>
            <a:rPr lang="fr-FR" dirty="0"/>
            <a:t> </a:t>
          </a:r>
          <a:r>
            <a:rPr lang="fr-FR" dirty="0" err="1"/>
            <a:t>we</a:t>
          </a:r>
          <a:r>
            <a:rPr lang="fr-FR" dirty="0"/>
            <a:t> </a:t>
          </a:r>
          <a:r>
            <a:rPr lang="fr-FR" dirty="0" err="1"/>
            <a:t>reject</a:t>
          </a:r>
          <a:r>
            <a:rPr lang="fr-FR" dirty="0"/>
            <a:t> H</a:t>
          </a:r>
          <a:r>
            <a:rPr lang="fr-FR" baseline="-25000" dirty="0"/>
            <a:t>0</a:t>
          </a:r>
        </a:p>
      </dgm:t>
    </dgm:pt>
    <dgm:pt modelId="{9C9094C3-4854-384C-ABD4-EC6573A2F601}" type="parTrans" cxnId="{40C26D7C-C1F7-FB4B-B84F-7B59CCB7B848}">
      <dgm:prSet/>
      <dgm:spPr/>
      <dgm:t>
        <a:bodyPr/>
        <a:lstStyle/>
        <a:p>
          <a:endParaRPr lang="fr-FR"/>
        </a:p>
      </dgm:t>
    </dgm:pt>
    <dgm:pt modelId="{E94D899E-5391-5F46-BE2C-94D650DAA315}" type="sibTrans" cxnId="{40C26D7C-C1F7-FB4B-B84F-7B59CCB7B848}">
      <dgm:prSet/>
      <dgm:spPr/>
      <dgm:t>
        <a:bodyPr/>
        <a:lstStyle/>
        <a:p>
          <a:endParaRPr lang="fr-FR"/>
        </a:p>
      </dgm:t>
    </dgm:pt>
    <dgm:pt modelId="{DD01E4B2-C35B-6745-B858-734E10EB1C76}" type="pres">
      <dgm:prSet presAssocID="{99BDF6DE-A8A2-574A-9103-1F13AD559C34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3EC119E5-F1A0-1E44-91A2-1B05CD92CD63}" type="pres">
      <dgm:prSet presAssocID="{28677FF1-3A69-A748-9D61-35F5C358935F}" presName="horFlow" presStyleCnt="0"/>
      <dgm:spPr/>
    </dgm:pt>
    <dgm:pt modelId="{0BDF6092-B02D-EB47-8A37-E956928B752C}" type="pres">
      <dgm:prSet presAssocID="{28677FF1-3A69-A748-9D61-35F5C358935F}" presName="bigChev" presStyleLbl="node1" presStyleIdx="0" presStyleCnt="3"/>
      <dgm:spPr/>
    </dgm:pt>
    <dgm:pt modelId="{3081DA39-C120-734E-AA50-9C9291085AAF}" type="pres">
      <dgm:prSet presAssocID="{28677FF1-3A69-A748-9D61-35F5C358935F}" presName="vSp" presStyleCnt="0"/>
      <dgm:spPr/>
    </dgm:pt>
    <dgm:pt modelId="{24B20267-C5BA-DA44-8538-B0419F4BEDBB}" type="pres">
      <dgm:prSet presAssocID="{D4631C6F-3FC0-4F4A-A9A8-5A09890744C2}" presName="horFlow" presStyleCnt="0"/>
      <dgm:spPr/>
    </dgm:pt>
    <dgm:pt modelId="{158F3783-801F-4145-8D80-2346BF9A0703}" type="pres">
      <dgm:prSet presAssocID="{D4631C6F-3FC0-4F4A-A9A8-5A09890744C2}" presName="bigChev" presStyleLbl="node1" presStyleIdx="1" presStyleCnt="3"/>
      <dgm:spPr/>
    </dgm:pt>
    <dgm:pt modelId="{BD10D3F0-E9C3-3F47-BC62-A8E209AF7F95}" type="pres">
      <dgm:prSet presAssocID="{68093691-3BC5-A148-BB06-604F952D475E}" presName="parTrans" presStyleCnt="0"/>
      <dgm:spPr/>
    </dgm:pt>
    <dgm:pt modelId="{B40D0E7D-E8DC-4149-8133-9D9FF9794842}" type="pres">
      <dgm:prSet presAssocID="{89129042-8C55-724D-BE9F-46ECA4D4D5C5}" presName="node" presStyleLbl="alignAccFollowNode1" presStyleIdx="0" presStyleCnt="4">
        <dgm:presLayoutVars>
          <dgm:bulletEnabled val="1"/>
        </dgm:presLayoutVars>
      </dgm:prSet>
      <dgm:spPr/>
    </dgm:pt>
    <dgm:pt modelId="{3B40C63A-2C60-ED47-8706-0A170043866B}" type="pres">
      <dgm:prSet presAssocID="{D85DC3EB-D4DD-1D4F-ACC2-651E22A088DD}" presName="sibTrans" presStyleCnt="0"/>
      <dgm:spPr/>
    </dgm:pt>
    <dgm:pt modelId="{F1EF0C3D-0848-214A-A335-DFF1FCC16BF7}" type="pres">
      <dgm:prSet presAssocID="{EB590787-6685-F748-9087-F3EAAB6C840C}" presName="node" presStyleLbl="alignAccFollowNode1" presStyleIdx="1" presStyleCnt="4">
        <dgm:presLayoutVars>
          <dgm:bulletEnabled val="1"/>
        </dgm:presLayoutVars>
      </dgm:prSet>
      <dgm:spPr/>
    </dgm:pt>
    <dgm:pt modelId="{428D2F1E-EE20-B64C-B3DA-C1D20377C31A}" type="pres">
      <dgm:prSet presAssocID="{D4631C6F-3FC0-4F4A-A9A8-5A09890744C2}" presName="vSp" presStyleCnt="0"/>
      <dgm:spPr/>
    </dgm:pt>
    <dgm:pt modelId="{BAC07963-094D-1B4D-B93F-8CD8B1FC4551}" type="pres">
      <dgm:prSet presAssocID="{E49966ED-8D1B-454E-A415-DDFF72DEA796}" presName="horFlow" presStyleCnt="0"/>
      <dgm:spPr/>
    </dgm:pt>
    <dgm:pt modelId="{6DB83E62-0068-3F4E-AD36-4007A07A6F8B}" type="pres">
      <dgm:prSet presAssocID="{E49966ED-8D1B-454E-A415-DDFF72DEA796}" presName="bigChev" presStyleLbl="node1" presStyleIdx="2" presStyleCnt="3"/>
      <dgm:spPr/>
    </dgm:pt>
    <dgm:pt modelId="{7F6C4477-6566-7646-8426-5877B93409D9}" type="pres">
      <dgm:prSet presAssocID="{141CFB62-673F-F44D-B12E-0F454D19DC09}" presName="parTrans" presStyleCnt="0"/>
      <dgm:spPr/>
    </dgm:pt>
    <dgm:pt modelId="{E86E57CC-E239-B54B-8730-64D43A20CA9C}" type="pres">
      <dgm:prSet presAssocID="{95C285D1-DDA6-F145-A98B-C47AC3E6DCCE}" presName="node" presStyleLbl="alignAccFollowNode1" presStyleIdx="2" presStyleCnt="4">
        <dgm:presLayoutVars>
          <dgm:bulletEnabled val="1"/>
        </dgm:presLayoutVars>
      </dgm:prSet>
      <dgm:spPr/>
    </dgm:pt>
    <dgm:pt modelId="{DFCF0F44-F1A1-0146-8363-660FFE2BA0E7}" type="pres">
      <dgm:prSet presAssocID="{8FB98327-E184-5645-8D77-B7178C66F0F6}" presName="sibTrans" presStyleCnt="0"/>
      <dgm:spPr/>
    </dgm:pt>
    <dgm:pt modelId="{6D6EF954-9B83-A243-930F-8E700F92908A}" type="pres">
      <dgm:prSet presAssocID="{09C6C237-AFA7-9A41-A6B9-4CD1DA0A0E62}" presName="node" presStyleLbl="alignAccFollowNode1" presStyleIdx="3" presStyleCnt="4" custScaleX="135306">
        <dgm:presLayoutVars>
          <dgm:bulletEnabled val="1"/>
        </dgm:presLayoutVars>
      </dgm:prSet>
      <dgm:spPr/>
    </dgm:pt>
  </dgm:ptLst>
  <dgm:cxnLst>
    <dgm:cxn modelId="{6205AC10-6A70-574F-9A75-085769B14FED}" srcId="{D4631C6F-3FC0-4F4A-A9A8-5A09890744C2}" destId="{89129042-8C55-724D-BE9F-46ECA4D4D5C5}" srcOrd="0" destOrd="0" parTransId="{68093691-3BC5-A148-BB06-604F952D475E}" sibTransId="{D85DC3EB-D4DD-1D4F-ACC2-651E22A088DD}"/>
    <dgm:cxn modelId="{98578F1C-A851-FA4D-98DD-ADB9F40B0365}" type="presOf" srcId="{95C285D1-DDA6-F145-A98B-C47AC3E6DCCE}" destId="{E86E57CC-E239-B54B-8730-64D43A20CA9C}" srcOrd="0" destOrd="0" presId="urn:microsoft.com/office/officeart/2005/8/layout/lProcess3"/>
    <dgm:cxn modelId="{56436E27-0FCE-7741-90D4-48DAF5BA5E66}" type="presOf" srcId="{89129042-8C55-724D-BE9F-46ECA4D4D5C5}" destId="{B40D0E7D-E8DC-4149-8133-9D9FF9794842}" srcOrd="0" destOrd="0" presId="urn:microsoft.com/office/officeart/2005/8/layout/lProcess3"/>
    <dgm:cxn modelId="{B9290A2B-5EC9-724A-B6C3-B51AE28478E5}" type="presOf" srcId="{99BDF6DE-A8A2-574A-9103-1F13AD559C34}" destId="{DD01E4B2-C35B-6745-B858-734E10EB1C76}" srcOrd="0" destOrd="0" presId="urn:microsoft.com/office/officeart/2005/8/layout/lProcess3"/>
    <dgm:cxn modelId="{67D65F77-0273-0F4B-8EEC-2B2DCBE4A379}" srcId="{E49966ED-8D1B-454E-A415-DDFF72DEA796}" destId="{95C285D1-DDA6-F145-A98B-C47AC3E6DCCE}" srcOrd="0" destOrd="0" parTransId="{141CFB62-673F-F44D-B12E-0F454D19DC09}" sibTransId="{8FB98327-E184-5645-8D77-B7178C66F0F6}"/>
    <dgm:cxn modelId="{40C26D7C-C1F7-FB4B-B84F-7B59CCB7B848}" srcId="{E49966ED-8D1B-454E-A415-DDFF72DEA796}" destId="{09C6C237-AFA7-9A41-A6B9-4CD1DA0A0E62}" srcOrd="1" destOrd="0" parTransId="{9C9094C3-4854-384C-ABD4-EC6573A2F601}" sibTransId="{E94D899E-5391-5F46-BE2C-94D650DAA315}"/>
    <dgm:cxn modelId="{DAC38180-0889-3946-B15F-FDAE5B17977A}" srcId="{99BDF6DE-A8A2-574A-9103-1F13AD559C34}" destId="{28677FF1-3A69-A748-9D61-35F5C358935F}" srcOrd="0" destOrd="0" parTransId="{D7D50B19-D4C7-F34E-8B1A-6F06E527D6C6}" sibTransId="{2543A987-6FD2-3B4C-A26F-C4AB37C6E9AD}"/>
    <dgm:cxn modelId="{E7CEF28B-F248-6243-97F6-D967ADB5007C}" type="presOf" srcId="{28677FF1-3A69-A748-9D61-35F5C358935F}" destId="{0BDF6092-B02D-EB47-8A37-E956928B752C}" srcOrd="0" destOrd="0" presId="urn:microsoft.com/office/officeart/2005/8/layout/lProcess3"/>
    <dgm:cxn modelId="{2EBFD6C3-2A45-5543-8251-D7A552CECDFC}" srcId="{99BDF6DE-A8A2-574A-9103-1F13AD559C34}" destId="{D4631C6F-3FC0-4F4A-A9A8-5A09890744C2}" srcOrd="1" destOrd="0" parTransId="{FAC67488-F731-5C4C-A045-FD832D708851}" sibTransId="{E8F7EB3A-4963-2040-82CF-95196A55F09A}"/>
    <dgm:cxn modelId="{012258CB-F5FB-6444-93DD-07D1B7D50198}" type="presOf" srcId="{EB590787-6685-F748-9087-F3EAAB6C840C}" destId="{F1EF0C3D-0848-214A-A335-DFF1FCC16BF7}" srcOrd="0" destOrd="0" presId="urn:microsoft.com/office/officeart/2005/8/layout/lProcess3"/>
    <dgm:cxn modelId="{547CF9CE-7D3D-E549-A075-EE2262615E43}" type="presOf" srcId="{D4631C6F-3FC0-4F4A-A9A8-5A09890744C2}" destId="{158F3783-801F-4145-8D80-2346BF9A0703}" srcOrd="0" destOrd="0" presId="urn:microsoft.com/office/officeart/2005/8/layout/lProcess3"/>
    <dgm:cxn modelId="{2CA107D3-83FF-8042-88FD-1441F562510B}" srcId="{99BDF6DE-A8A2-574A-9103-1F13AD559C34}" destId="{E49966ED-8D1B-454E-A415-DDFF72DEA796}" srcOrd="2" destOrd="0" parTransId="{C5342C89-D79B-5046-8CFE-22641E8124CC}" sibTransId="{BFAEECC2-F642-FF43-A04E-013F0EBB25E0}"/>
    <dgm:cxn modelId="{8CD477E1-B707-3E4A-8BF4-338BE7D55F0A}" type="presOf" srcId="{E49966ED-8D1B-454E-A415-DDFF72DEA796}" destId="{6DB83E62-0068-3F4E-AD36-4007A07A6F8B}" srcOrd="0" destOrd="0" presId="urn:microsoft.com/office/officeart/2005/8/layout/lProcess3"/>
    <dgm:cxn modelId="{A1BEF7E8-99BA-5E43-AF64-738B01C76488}" type="presOf" srcId="{09C6C237-AFA7-9A41-A6B9-4CD1DA0A0E62}" destId="{6D6EF954-9B83-A243-930F-8E700F92908A}" srcOrd="0" destOrd="0" presId="urn:microsoft.com/office/officeart/2005/8/layout/lProcess3"/>
    <dgm:cxn modelId="{A4175FF8-C994-9640-A1FD-CA6300F4CA22}" srcId="{D4631C6F-3FC0-4F4A-A9A8-5A09890744C2}" destId="{EB590787-6685-F748-9087-F3EAAB6C840C}" srcOrd="1" destOrd="0" parTransId="{7608C9A7-CB42-7843-96D8-6945DD11AB64}" sibTransId="{7D188127-B259-544D-BC0A-1416B9736CBE}"/>
    <dgm:cxn modelId="{52160721-F318-8C42-AB1C-8EACDFD76A40}" type="presParOf" srcId="{DD01E4B2-C35B-6745-B858-734E10EB1C76}" destId="{3EC119E5-F1A0-1E44-91A2-1B05CD92CD63}" srcOrd="0" destOrd="0" presId="urn:microsoft.com/office/officeart/2005/8/layout/lProcess3"/>
    <dgm:cxn modelId="{0EB1384C-1408-6247-84D5-0B82724F3889}" type="presParOf" srcId="{3EC119E5-F1A0-1E44-91A2-1B05CD92CD63}" destId="{0BDF6092-B02D-EB47-8A37-E956928B752C}" srcOrd="0" destOrd="0" presId="urn:microsoft.com/office/officeart/2005/8/layout/lProcess3"/>
    <dgm:cxn modelId="{9A8F037C-6B64-BD49-8207-EAE394475649}" type="presParOf" srcId="{DD01E4B2-C35B-6745-B858-734E10EB1C76}" destId="{3081DA39-C120-734E-AA50-9C9291085AAF}" srcOrd="1" destOrd="0" presId="urn:microsoft.com/office/officeart/2005/8/layout/lProcess3"/>
    <dgm:cxn modelId="{C52DCEAC-D356-354C-B852-577EDBB6C7BA}" type="presParOf" srcId="{DD01E4B2-C35B-6745-B858-734E10EB1C76}" destId="{24B20267-C5BA-DA44-8538-B0419F4BEDBB}" srcOrd="2" destOrd="0" presId="urn:microsoft.com/office/officeart/2005/8/layout/lProcess3"/>
    <dgm:cxn modelId="{AA6993C7-ECFB-B24A-A94C-0083C72B2285}" type="presParOf" srcId="{24B20267-C5BA-DA44-8538-B0419F4BEDBB}" destId="{158F3783-801F-4145-8D80-2346BF9A0703}" srcOrd="0" destOrd="0" presId="urn:microsoft.com/office/officeart/2005/8/layout/lProcess3"/>
    <dgm:cxn modelId="{A5C3FF8F-B1F8-214A-88C2-F499D651C373}" type="presParOf" srcId="{24B20267-C5BA-DA44-8538-B0419F4BEDBB}" destId="{BD10D3F0-E9C3-3F47-BC62-A8E209AF7F95}" srcOrd="1" destOrd="0" presId="urn:microsoft.com/office/officeart/2005/8/layout/lProcess3"/>
    <dgm:cxn modelId="{229FAB17-220B-654F-BA14-64C212EF314A}" type="presParOf" srcId="{24B20267-C5BA-DA44-8538-B0419F4BEDBB}" destId="{B40D0E7D-E8DC-4149-8133-9D9FF9794842}" srcOrd="2" destOrd="0" presId="urn:microsoft.com/office/officeart/2005/8/layout/lProcess3"/>
    <dgm:cxn modelId="{7A1DE453-D832-EE4F-92C1-6E9FB8F278AD}" type="presParOf" srcId="{24B20267-C5BA-DA44-8538-B0419F4BEDBB}" destId="{3B40C63A-2C60-ED47-8706-0A170043866B}" srcOrd="3" destOrd="0" presId="urn:microsoft.com/office/officeart/2005/8/layout/lProcess3"/>
    <dgm:cxn modelId="{EEE15FDE-ACFB-784B-9B9A-76FF649B9E71}" type="presParOf" srcId="{24B20267-C5BA-DA44-8538-B0419F4BEDBB}" destId="{F1EF0C3D-0848-214A-A335-DFF1FCC16BF7}" srcOrd="4" destOrd="0" presId="urn:microsoft.com/office/officeart/2005/8/layout/lProcess3"/>
    <dgm:cxn modelId="{3DF532C6-62E3-0C43-AACF-EF3E6D83179B}" type="presParOf" srcId="{DD01E4B2-C35B-6745-B858-734E10EB1C76}" destId="{428D2F1E-EE20-B64C-B3DA-C1D20377C31A}" srcOrd="3" destOrd="0" presId="urn:microsoft.com/office/officeart/2005/8/layout/lProcess3"/>
    <dgm:cxn modelId="{1F6963D1-A9DF-A84F-B6B3-6A4247E9A06D}" type="presParOf" srcId="{DD01E4B2-C35B-6745-B858-734E10EB1C76}" destId="{BAC07963-094D-1B4D-B93F-8CD8B1FC4551}" srcOrd="4" destOrd="0" presId="urn:microsoft.com/office/officeart/2005/8/layout/lProcess3"/>
    <dgm:cxn modelId="{76E5DBC7-9B17-A449-9A6C-B4B3D0D6B78D}" type="presParOf" srcId="{BAC07963-094D-1B4D-B93F-8CD8B1FC4551}" destId="{6DB83E62-0068-3F4E-AD36-4007A07A6F8B}" srcOrd="0" destOrd="0" presId="urn:microsoft.com/office/officeart/2005/8/layout/lProcess3"/>
    <dgm:cxn modelId="{D019F457-5E05-D74A-A6B8-2B144BACD2A1}" type="presParOf" srcId="{BAC07963-094D-1B4D-B93F-8CD8B1FC4551}" destId="{7F6C4477-6566-7646-8426-5877B93409D9}" srcOrd="1" destOrd="0" presId="urn:microsoft.com/office/officeart/2005/8/layout/lProcess3"/>
    <dgm:cxn modelId="{05850432-105A-D044-B530-3B5A02638E5C}" type="presParOf" srcId="{BAC07963-094D-1B4D-B93F-8CD8B1FC4551}" destId="{E86E57CC-E239-B54B-8730-64D43A20CA9C}" srcOrd="2" destOrd="0" presId="urn:microsoft.com/office/officeart/2005/8/layout/lProcess3"/>
    <dgm:cxn modelId="{1E74A870-A8FD-DA47-8D9B-128D96B849EF}" type="presParOf" srcId="{BAC07963-094D-1B4D-B93F-8CD8B1FC4551}" destId="{DFCF0F44-F1A1-0146-8363-660FFE2BA0E7}" srcOrd="3" destOrd="0" presId="urn:microsoft.com/office/officeart/2005/8/layout/lProcess3"/>
    <dgm:cxn modelId="{BFA7DAED-B576-6747-A8B5-E7B8086031BE}" type="presParOf" srcId="{BAC07963-094D-1B4D-B93F-8CD8B1FC4551}" destId="{6D6EF954-9B83-A243-930F-8E700F92908A}" srcOrd="4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9BDF6DE-A8A2-574A-9103-1F13AD559C34}" type="doc">
      <dgm:prSet loTypeId="urn:microsoft.com/office/officeart/2005/8/layout/lProcess3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28677FF1-3A69-A748-9D61-35F5C358935F}">
      <dgm:prSet phldrT="[Texte]"/>
      <dgm:spPr/>
      <dgm:t>
        <a:bodyPr/>
        <a:lstStyle/>
        <a:p>
          <a:r>
            <a:rPr lang="fr-FR" dirty="0" err="1"/>
            <a:t>Sample</a:t>
          </a:r>
          <a:r>
            <a:rPr lang="fr-FR" dirty="0"/>
            <a:t> have to </a:t>
          </a:r>
          <a:r>
            <a:rPr lang="fr-FR" dirty="0" err="1"/>
            <a:t>be</a:t>
          </a:r>
          <a:r>
            <a:rPr lang="fr-FR" dirty="0"/>
            <a:t> &gt;50</a:t>
          </a:r>
        </a:p>
      </dgm:t>
    </dgm:pt>
    <dgm:pt modelId="{D7D50B19-D4C7-F34E-8B1A-6F06E527D6C6}" type="parTrans" cxnId="{DAC38180-0889-3946-B15F-FDAE5B17977A}">
      <dgm:prSet/>
      <dgm:spPr/>
      <dgm:t>
        <a:bodyPr/>
        <a:lstStyle/>
        <a:p>
          <a:endParaRPr lang="fr-FR"/>
        </a:p>
      </dgm:t>
    </dgm:pt>
    <dgm:pt modelId="{2543A987-6FD2-3B4C-A26F-C4AB37C6E9AD}" type="sibTrans" cxnId="{DAC38180-0889-3946-B15F-FDAE5B17977A}">
      <dgm:prSet/>
      <dgm:spPr/>
      <dgm:t>
        <a:bodyPr/>
        <a:lstStyle/>
        <a:p>
          <a:endParaRPr lang="fr-FR"/>
        </a:p>
      </dgm:t>
    </dgm:pt>
    <dgm:pt modelId="{D4631C6F-3FC0-4F4A-A9A8-5A09890744C2}">
      <dgm:prSet phldrT="[Texte]"/>
      <dgm:spPr/>
      <dgm:t>
        <a:bodyPr/>
        <a:lstStyle/>
        <a:p>
          <a:r>
            <a:rPr lang="fr-FR" dirty="0"/>
            <a:t>Variable </a:t>
          </a:r>
          <a:r>
            <a:rPr lang="fr-FR" dirty="0" err="1"/>
            <a:t>should</a:t>
          </a:r>
          <a:r>
            <a:rPr lang="fr-FR" dirty="0"/>
            <a:t> </a:t>
          </a:r>
          <a:r>
            <a:rPr lang="fr-FR" dirty="0" err="1"/>
            <a:t>be</a:t>
          </a:r>
          <a:r>
            <a:rPr lang="fr-FR" dirty="0"/>
            <a:t> </a:t>
          </a:r>
          <a:r>
            <a:rPr lang="fr-FR" dirty="0" err="1"/>
            <a:t>normally</a:t>
          </a:r>
          <a:r>
            <a:rPr lang="fr-FR" dirty="0"/>
            <a:t> </a:t>
          </a:r>
          <a:r>
            <a:rPr lang="fr-FR" dirty="0" err="1"/>
            <a:t>distributed</a:t>
          </a:r>
          <a:endParaRPr lang="fr-FR" dirty="0"/>
        </a:p>
      </dgm:t>
    </dgm:pt>
    <dgm:pt modelId="{FAC67488-F731-5C4C-A045-FD832D708851}" type="parTrans" cxnId="{2EBFD6C3-2A45-5543-8251-D7A552CECDFC}">
      <dgm:prSet/>
      <dgm:spPr/>
      <dgm:t>
        <a:bodyPr/>
        <a:lstStyle/>
        <a:p>
          <a:endParaRPr lang="fr-FR"/>
        </a:p>
      </dgm:t>
    </dgm:pt>
    <dgm:pt modelId="{E8F7EB3A-4963-2040-82CF-95196A55F09A}" type="sibTrans" cxnId="{2EBFD6C3-2A45-5543-8251-D7A552CECDFC}">
      <dgm:prSet/>
      <dgm:spPr/>
      <dgm:t>
        <a:bodyPr/>
        <a:lstStyle/>
        <a:p>
          <a:endParaRPr lang="fr-FR"/>
        </a:p>
      </dgm:t>
    </dgm:pt>
    <dgm:pt modelId="{E49966ED-8D1B-454E-A415-DDFF72DEA796}">
      <dgm:prSet phldrT="[Texte]"/>
      <dgm:spPr/>
      <dgm:t>
        <a:bodyPr/>
        <a:lstStyle/>
        <a:p>
          <a:r>
            <a:rPr lang="fr-FR" dirty="0" err="1"/>
            <a:t>T</a:t>
          </a:r>
          <a:r>
            <a:rPr lang="fr-FR" dirty="0"/>
            <a:t>-Test</a:t>
          </a:r>
        </a:p>
      </dgm:t>
    </dgm:pt>
    <dgm:pt modelId="{C5342C89-D79B-5046-8CFE-22641E8124CC}" type="parTrans" cxnId="{2CA107D3-83FF-8042-88FD-1441F562510B}">
      <dgm:prSet/>
      <dgm:spPr/>
      <dgm:t>
        <a:bodyPr/>
        <a:lstStyle/>
        <a:p>
          <a:endParaRPr lang="fr-FR"/>
        </a:p>
      </dgm:t>
    </dgm:pt>
    <dgm:pt modelId="{BFAEECC2-F642-FF43-A04E-013F0EBB25E0}" type="sibTrans" cxnId="{2CA107D3-83FF-8042-88FD-1441F562510B}">
      <dgm:prSet/>
      <dgm:spPr/>
      <dgm:t>
        <a:bodyPr/>
        <a:lstStyle/>
        <a:p>
          <a:endParaRPr lang="fr-FR"/>
        </a:p>
      </dgm:t>
    </dgm:pt>
    <dgm:pt modelId="{DD01E4B2-C35B-6745-B858-734E10EB1C76}" type="pres">
      <dgm:prSet presAssocID="{99BDF6DE-A8A2-574A-9103-1F13AD559C34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3EC119E5-F1A0-1E44-91A2-1B05CD92CD63}" type="pres">
      <dgm:prSet presAssocID="{28677FF1-3A69-A748-9D61-35F5C358935F}" presName="horFlow" presStyleCnt="0"/>
      <dgm:spPr/>
    </dgm:pt>
    <dgm:pt modelId="{0BDF6092-B02D-EB47-8A37-E956928B752C}" type="pres">
      <dgm:prSet presAssocID="{28677FF1-3A69-A748-9D61-35F5C358935F}" presName="bigChev" presStyleLbl="node1" presStyleIdx="0" presStyleCnt="3"/>
      <dgm:spPr/>
    </dgm:pt>
    <dgm:pt modelId="{3081DA39-C120-734E-AA50-9C9291085AAF}" type="pres">
      <dgm:prSet presAssocID="{28677FF1-3A69-A748-9D61-35F5C358935F}" presName="vSp" presStyleCnt="0"/>
      <dgm:spPr/>
    </dgm:pt>
    <dgm:pt modelId="{24B20267-C5BA-DA44-8538-B0419F4BEDBB}" type="pres">
      <dgm:prSet presAssocID="{D4631C6F-3FC0-4F4A-A9A8-5A09890744C2}" presName="horFlow" presStyleCnt="0"/>
      <dgm:spPr/>
    </dgm:pt>
    <dgm:pt modelId="{158F3783-801F-4145-8D80-2346BF9A0703}" type="pres">
      <dgm:prSet presAssocID="{D4631C6F-3FC0-4F4A-A9A8-5A09890744C2}" presName="bigChev" presStyleLbl="node1" presStyleIdx="1" presStyleCnt="3"/>
      <dgm:spPr/>
    </dgm:pt>
    <dgm:pt modelId="{428D2F1E-EE20-B64C-B3DA-C1D20377C31A}" type="pres">
      <dgm:prSet presAssocID="{D4631C6F-3FC0-4F4A-A9A8-5A09890744C2}" presName="vSp" presStyleCnt="0"/>
      <dgm:spPr/>
    </dgm:pt>
    <dgm:pt modelId="{BAC07963-094D-1B4D-B93F-8CD8B1FC4551}" type="pres">
      <dgm:prSet presAssocID="{E49966ED-8D1B-454E-A415-DDFF72DEA796}" presName="horFlow" presStyleCnt="0"/>
      <dgm:spPr/>
    </dgm:pt>
    <dgm:pt modelId="{6DB83E62-0068-3F4E-AD36-4007A07A6F8B}" type="pres">
      <dgm:prSet presAssocID="{E49966ED-8D1B-454E-A415-DDFF72DEA796}" presName="bigChev" presStyleLbl="node1" presStyleIdx="2" presStyleCnt="3"/>
      <dgm:spPr/>
    </dgm:pt>
  </dgm:ptLst>
  <dgm:cxnLst>
    <dgm:cxn modelId="{B9290A2B-5EC9-724A-B6C3-B51AE28478E5}" type="presOf" srcId="{99BDF6DE-A8A2-574A-9103-1F13AD559C34}" destId="{DD01E4B2-C35B-6745-B858-734E10EB1C76}" srcOrd="0" destOrd="0" presId="urn:microsoft.com/office/officeart/2005/8/layout/lProcess3"/>
    <dgm:cxn modelId="{DAC38180-0889-3946-B15F-FDAE5B17977A}" srcId="{99BDF6DE-A8A2-574A-9103-1F13AD559C34}" destId="{28677FF1-3A69-A748-9D61-35F5C358935F}" srcOrd="0" destOrd="0" parTransId="{D7D50B19-D4C7-F34E-8B1A-6F06E527D6C6}" sibTransId="{2543A987-6FD2-3B4C-A26F-C4AB37C6E9AD}"/>
    <dgm:cxn modelId="{E7CEF28B-F248-6243-97F6-D967ADB5007C}" type="presOf" srcId="{28677FF1-3A69-A748-9D61-35F5C358935F}" destId="{0BDF6092-B02D-EB47-8A37-E956928B752C}" srcOrd="0" destOrd="0" presId="urn:microsoft.com/office/officeart/2005/8/layout/lProcess3"/>
    <dgm:cxn modelId="{2EBFD6C3-2A45-5543-8251-D7A552CECDFC}" srcId="{99BDF6DE-A8A2-574A-9103-1F13AD559C34}" destId="{D4631C6F-3FC0-4F4A-A9A8-5A09890744C2}" srcOrd="1" destOrd="0" parTransId="{FAC67488-F731-5C4C-A045-FD832D708851}" sibTransId="{E8F7EB3A-4963-2040-82CF-95196A55F09A}"/>
    <dgm:cxn modelId="{547CF9CE-7D3D-E549-A075-EE2262615E43}" type="presOf" srcId="{D4631C6F-3FC0-4F4A-A9A8-5A09890744C2}" destId="{158F3783-801F-4145-8D80-2346BF9A0703}" srcOrd="0" destOrd="0" presId="urn:microsoft.com/office/officeart/2005/8/layout/lProcess3"/>
    <dgm:cxn modelId="{2CA107D3-83FF-8042-88FD-1441F562510B}" srcId="{99BDF6DE-A8A2-574A-9103-1F13AD559C34}" destId="{E49966ED-8D1B-454E-A415-DDFF72DEA796}" srcOrd="2" destOrd="0" parTransId="{C5342C89-D79B-5046-8CFE-22641E8124CC}" sibTransId="{BFAEECC2-F642-FF43-A04E-013F0EBB25E0}"/>
    <dgm:cxn modelId="{8CD477E1-B707-3E4A-8BF4-338BE7D55F0A}" type="presOf" srcId="{E49966ED-8D1B-454E-A415-DDFF72DEA796}" destId="{6DB83E62-0068-3F4E-AD36-4007A07A6F8B}" srcOrd="0" destOrd="0" presId="urn:microsoft.com/office/officeart/2005/8/layout/lProcess3"/>
    <dgm:cxn modelId="{52160721-F318-8C42-AB1C-8EACDFD76A40}" type="presParOf" srcId="{DD01E4B2-C35B-6745-B858-734E10EB1C76}" destId="{3EC119E5-F1A0-1E44-91A2-1B05CD92CD63}" srcOrd="0" destOrd="0" presId="urn:microsoft.com/office/officeart/2005/8/layout/lProcess3"/>
    <dgm:cxn modelId="{0EB1384C-1408-6247-84D5-0B82724F3889}" type="presParOf" srcId="{3EC119E5-F1A0-1E44-91A2-1B05CD92CD63}" destId="{0BDF6092-B02D-EB47-8A37-E956928B752C}" srcOrd="0" destOrd="0" presId="urn:microsoft.com/office/officeart/2005/8/layout/lProcess3"/>
    <dgm:cxn modelId="{9A8F037C-6B64-BD49-8207-EAE394475649}" type="presParOf" srcId="{DD01E4B2-C35B-6745-B858-734E10EB1C76}" destId="{3081DA39-C120-734E-AA50-9C9291085AAF}" srcOrd="1" destOrd="0" presId="urn:microsoft.com/office/officeart/2005/8/layout/lProcess3"/>
    <dgm:cxn modelId="{C52DCEAC-D356-354C-B852-577EDBB6C7BA}" type="presParOf" srcId="{DD01E4B2-C35B-6745-B858-734E10EB1C76}" destId="{24B20267-C5BA-DA44-8538-B0419F4BEDBB}" srcOrd="2" destOrd="0" presId="urn:microsoft.com/office/officeart/2005/8/layout/lProcess3"/>
    <dgm:cxn modelId="{AA6993C7-ECFB-B24A-A94C-0083C72B2285}" type="presParOf" srcId="{24B20267-C5BA-DA44-8538-B0419F4BEDBB}" destId="{158F3783-801F-4145-8D80-2346BF9A0703}" srcOrd="0" destOrd="0" presId="urn:microsoft.com/office/officeart/2005/8/layout/lProcess3"/>
    <dgm:cxn modelId="{3DF532C6-62E3-0C43-AACF-EF3E6D83179B}" type="presParOf" srcId="{DD01E4B2-C35B-6745-B858-734E10EB1C76}" destId="{428D2F1E-EE20-B64C-B3DA-C1D20377C31A}" srcOrd="3" destOrd="0" presId="urn:microsoft.com/office/officeart/2005/8/layout/lProcess3"/>
    <dgm:cxn modelId="{1F6963D1-A9DF-A84F-B6B3-6A4247E9A06D}" type="presParOf" srcId="{DD01E4B2-C35B-6745-B858-734E10EB1C76}" destId="{BAC07963-094D-1B4D-B93F-8CD8B1FC4551}" srcOrd="4" destOrd="0" presId="urn:microsoft.com/office/officeart/2005/8/layout/lProcess3"/>
    <dgm:cxn modelId="{76E5DBC7-9B17-A449-9A6C-B4B3D0D6B78D}" type="presParOf" srcId="{BAC07963-094D-1B4D-B93F-8CD8B1FC4551}" destId="{6DB83E62-0068-3F4E-AD36-4007A07A6F8B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9BDF6DE-A8A2-574A-9103-1F13AD559C34}" type="doc">
      <dgm:prSet loTypeId="urn:microsoft.com/office/officeart/2005/8/layout/lProcess3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28677FF1-3A69-A748-9D61-35F5C358935F}">
      <dgm:prSet phldrT="[Texte]"/>
      <dgm:spPr/>
      <dgm:t>
        <a:bodyPr/>
        <a:lstStyle/>
        <a:p>
          <a:r>
            <a:rPr lang="fr-FR" dirty="0" err="1"/>
            <a:t>Sample</a:t>
          </a:r>
          <a:r>
            <a:rPr lang="fr-FR" dirty="0"/>
            <a:t> have to </a:t>
          </a:r>
          <a:r>
            <a:rPr lang="fr-FR" dirty="0" err="1"/>
            <a:t>be</a:t>
          </a:r>
          <a:r>
            <a:rPr lang="fr-FR" dirty="0"/>
            <a:t> &gt;50</a:t>
          </a:r>
        </a:p>
      </dgm:t>
    </dgm:pt>
    <dgm:pt modelId="{D7D50B19-D4C7-F34E-8B1A-6F06E527D6C6}" type="parTrans" cxnId="{DAC38180-0889-3946-B15F-FDAE5B17977A}">
      <dgm:prSet/>
      <dgm:spPr/>
      <dgm:t>
        <a:bodyPr/>
        <a:lstStyle/>
        <a:p>
          <a:endParaRPr lang="fr-FR"/>
        </a:p>
      </dgm:t>
    </dgm:pt>
    <dgm:pt modelId="{2543A987-6FD2-3B4C-A26F-C4AB37C6E9AD}" type="sibTrans" cxnId="{DAC38180-0889-3946-B15F-FDAE5B17977A}">
      <dgm:prSet/>
      <dgm:spPr/>
      <dgm:t>
        <a:bodyPr/>
        <a:lstStyle/>
        <a:p>
          <a:endParaRPr lang="fr-FR"/>
        </a:p>
      </dgm:t>
    </dgm:pt>
    <dgm:pt modelId="{D4631C6F-3FC0-4F4A-A9A8-5A09890744C2}">
      <dgm:prSet phldrT="[Texte]"/>
      <dgm:spPr/>
      <dgm:t>
        <a:bodyPr/>
        <a:lstStyle/>
        <a:p>
          <a:r>
            <a:rPr lang="fr-FR" dirty="0"/>
            <a:t>Variable </a:t>
          </a:r>
          <a:r>
            <a:rPr lang="fr-FR" dirty="0" err="1"/>
            <a:t>should</a:t>
          </a:r>
          <a:r>
            <a:rPr lang="fr-FR" dirty="0"/>
            <a:t> </a:t>
          </a:r>
          <a:r>
            <a:rPr lang="fr-FR" dirty="0" err="1"/>
            <a:t>be</a:t>
          </a:r>
          <a:r>
            <a:rPr lang="fr-FR" dirty="0"/>
            <a:t> </a:t>
          </a:r>
          <a:r>
            <a:rPr lang="fr-FR" dirty="0" err="1"/>
            <a:t>normally</a:t>
          </a:r>
          <a:r>
            <a:rPr lang="fr-FR" dirty="0"/>
            <a:t> </a:t>
          </a:r>
          <a:r>
            <a:rPr lang="fr-FR" dirty="0" err="1"/>
            <a:t>distributed</a:t>
          </a:r>
          <a:endParaRPr lang="fr-FR" dirty="0"/>
        </a:p>
      </dgm:t>
    </dgm:pt>
    <dgm:pt modelId="{FAC67488-F731-5C4C-A045-FD832D708851}" type="parTrans" cxnId="{2EBFD6C3-2A45-5543-8251-D7A552CECDFC}">
      <dgm:prSet/>
      <dgm:spPr/>
      <dgm:t>
        <a:bodyPr/>
        <a:lstStyle/>
        <a:p>
          <a:endParaRPr lang="fr-FR"/>
        </a:p>
      </dgm:t>
    </dgm:pt>
    <dgm:pt modelId="{E8F7EB3A-4963-2040-82CF-95196A55F09A}" type="sibTrans" cxnId="{2EBFD6C3-2A45-5543-8251-D7A552CECDFC}">
      <dgm:prSet/>
      <dgm:spPr/>
      <dgm:t>
        <a:bodyPr/>
        <a:lstStyle/>
        <a:p>
          <a:endParaRPr lang="fr-FR"/>
        </a:p>
      </dgm:t>
    </dgm:pt>
    <dgm:pt modelId="{E49966ED-8D1B-454E-A415-DDFF72DEA796}">
      <dgm:prSet phldrT="[Texte]"/>
      <dgm:spPr/>
      <dgm:t>
        <a:bodyPr/>
        <a:lstStyle/>
        <a:p>
          <a:r>
            <a:rPr lang="fr-FR" dirty="0" err="1"/>
            <a:t>T</a:t>
          </a:r>
          <a:r>
            <a:rPr lang="fr-FR" dirty="0"/>
            <a:t>-Test</a:t>
          </a:r>
        </a:p>
      </dgm:t>
    </dgm:pt>
    <dgm:pt modelId="{C5342C89-D79B-5046-8CFE-22641E8124CC}" type="parTrans" cxnId="{2CA107D3-83FF-8042-88FD-1441F562510B}">
      <dgm:prSet/>
      <dgm:spPr/>
      <dgm:t>
        <a:bodyPr/>
        <a:lstStyle/>
        <a:p>
          <a:endParaRPr lang="fr-FR"/>
        </a:p>
      </dgm:t>
    </dgm:pt>
    <dgm:pt modelId="{BFAEECC2-F642-FF43-A04E-013F0EBB25E0}" type="sibTrans" cxnId="{2CA107D3-83FF-8042-88FD-1441F562510B}">
      <dgm:prSet/>
      <dgm:spPr/>
      <dgm:t>
        <a:bodyPr/>
        <a:lstStyle/>
        <a:p>
          <a:endParaRPr lang="fr-FR"/>
        </a:p>
      </dgm:t>
    </dgm:pt>
    <dgm:pt modelId="{DD01E4B2-C35B-6745-B858-734E10EB1C76}" type="pres">
      <dgm:prSet presAssocID="{99BDF6DE-A8A2-574A-9103-1F13AD559C34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3EC119E5-F1A0-1E44-91A2-1B05CD92CD63}" type="pres">
      <dgm:prSet presAssocID="{28677FF1-3A69-A748-9D61-35F5C358935F}" presName="horFlow" presStyleCnt="0"/>
      <dgm:spPr/>
    </dgm:pt>
    <dgm:pt modelId="{0BDF6092-B02D-EB47-8A37-E956928B752C}" type="pres">
      <dgm:prSet presAssocID="{28677FF1-3A69-A748-9D61-35F5C358935F}" presName="bigChev" presStyleLbl="node1" presStyleIdx="0" presStyleCnt="3"/>
      <dgm:spPr/>
    </dgm:pt>
    <dgm:pt modelId="{3081DA39-C120-734E-AA50-9C9291085AAF}" type="pres">
      <dgm:prSet presAssocID="{28677FF1-3A69-A748-9D61-35F5C358935F}" presName="vSp" presStyleCnt="0"/>
      <dgm:spPr/>
    </dgm:pt>
    <dgm:pt modelId="{24B20267-C5BA-DA44-8538-B0419F4BEDBB}" type="pres">
      <dgm:prSet presAssocID="{D4631C6F-3FC0-4F4A-A9A8-5A09890744C2}" presName="horFlow" presStyleCnt="0"/>
      <dgm:spPr/>
    </dgm:pt>
    <dgm:pt modelId="{158F3783-801F-4145-8D80-2346BF9A0703}" type="pres">
      <dgm:prSet presAssocID="{D4631C6F-3FC0-4F4A-A9A8-5A09890744C2}" presName="bigChev" presStyleLbl="node1" presStyleIdx="1" presStyleCnt="3"/>
      <dgm:spPr/>
    </dgm:pt>
    <dgm:pt modelId="{428D2F1E-EE20-B64C-B3DA-C1D20377C31A}" type="pres">
      <dgm:prSet presAssocID="{D4631C6F-3FC0-4F4A-A9A8-5A09890744C2}" presName="vSp" presStyleCnt="0"/>
      <dgm:spPr/>
    </dgm:pt>
    <dgm:pt modelId="{BAC07963-094D-1B4D-B93F-8CD8B1FC4551}" type="pres">
      <dgm:prSet presAssocID="{E49966ED-8D1B-454E-A415-DDFF72DEA796}" presName="horFlow" presStyleCnt="0"/>
      <dgm:spPr/>
    </dgm:pt>
    <dgm:pt modelId="{6DB83E62-0068-3F4E-AD36-4007A07A6F8B}" type="pres">
      <dgm:prSet presAssocID="{E49966ED-8D1B-454E-A415-DDFF72DEA796}" presName="bigChev" presStyleLbl="node1" presStyleIdx="2" presStyleCnt="3"/>
      <dgm:spPr/>
    </dgm:pt>
  </dgm:ptLst>
  <dgm:cxnLst>
    <dgm:cxn modelId="{B9290A2B-5EC9-724A-B6C3-B51AE28478E5}" type="presOf" srcId="{99BDF6DE-A8A2-574A-9103-1F13AD559C34}" destId="{DD01E4B2-C35B-6745-B858-734E10EB1C76}" srcOrd="0" destOrd="0" presId="urn:microsoft.com/office/officeart/2005/8/layout/lProcess3"/>
    <dgm:cxn modelId="{DAC38180-0889-3946-B15F-FDAE5B17977A}" srcId="{99BDF6DE-A8A2-574A-9103-1F13AD559C34}" destId="{28677FF1-3A69-A748-9D61-35F5C358935F}" srcOrd="0" destOrd="0" parTransId="{D7D50B19-D4C7-F34E-8B1A-6F06E527D6C6}" sibTransId="{2543A987-6FD2-3B4C-A26F-C4AB37C6E9AD}"/>
    <dgm:cxn modelId="{E7CEF28B-F248-6243-97F6-D967ADB5007C}" type="presOf" srcId="{28677FF1-3A69-A748-9D61-35F5C358935F}" destId="{0BDF6092-B02D-EB47-8A37-E956928B752C}" srcOrd="0" destOrd="0" presId="urn:microsoft.com/office/officeart/2005/8/layout/lProcess3"/>
    <dgm:cxn modelId="{2EBFD6C3-2A45-5543-8251-D7A552CECDFC}" srcId="{99BDF6DE-A8A2-574A-9103-1F13AD559C34}" destId="{D4631C6F-3FC0-4F4A-A9A8-5A09890744C2}" srcOrd="1" destOrd="0" parTransId="{FAC67488-F731-5C4C-A045-FD832D708851}" sibTransId="{E8F7EB3A-4963-2040-82CF-95196A55F09A}"/>
    <dgm:cxn modelId="{547CF9CE-7D3D-E549-A075-EE2262615E43}" type="presOf" srcId="{D4631C6F-3FC0-4F4A-A9A8-5A09890744C2}" destId="{158F3783-801F-4145-8D80-2346BF9A0703}" srcOrd="0" destOrd="0" presId="urn:microsoft.com/office/officeart/2005/8/layout/lProcess3"/>
    <dgm:cxn modelId="{2CA107D3-83FF-8042-88FD-1441F562510B}" srcId="{99BDF6DE-A8A2-574A-9103-1F13AD559C34}" destId="{E49966ED-8D1B-454E-A415-DDFF72DEA796}" srcOrd="2" destOrd="0" parTransId="{C5342C89-D79B-5046-8CFE-22641E8124CC}" sibTransId="{BFAEECC2-F642-FF43-A04E-013F0EBB25E0}"/>
    <dgm:cxn modelId="{8CD477E1-B707-3E4A-8BF4-338BE7D55F0A}" type="presOf" srcId="{E49966ED-8D1B-454E-A415-DDFF72DEA796}" destId="{6DB83E62-0068-3F4E-AD36-4007A07A6F8B}" srcOrd="0" destOrd="0" presId="urn:microsoft.com/office/officeart/2005/8/layout/lProcess3"/>
    <dgm:cxn modelId="{52160721-F318-8C42-AB1C-8EACDFD76A40}" type="presParOf" srcId="{DD01E4B2-C35B-6745-B858-734E10EB1C76}" destId="{3EC119E5-F1A0-1E44-91A2-1B05CD92CD63}" srcOrd="0" destOrd="0" presId="urn:microsoft.com/office/officeart/2005/8/layout/lProcess3"/>
    <dgm:cxn modelId="{0EB1384C-1408-6247-84D5-0B82724F3889}" type="presParOf" srcId="{3EC119E5-F1A0-1E44-91A2-1B05CD92CD63}" destId="{0BDF6092-B02D-EB47-8A37-E956928B752C}" srcOrd="0" destOrd="0" presId="urn:microsoft.com/office/officeart/2005/8/layout/lProcess3"/>
    <dgm:cxn modelId="{9A8F037C-6B64-BD49-8207-EAE394475649}" type="presParOf" srcId="{DD01E4B2-C35B-6745-B858-734E10EB1C76}" destId="{3081DA39-C120-734E-AA50-9C9291085AAF}" srcOrd="1" destOrd="0" presId="urn:microsoft.com/office/officeart/2005/8/layout/lProcess3"/>
    <dgm:cxn modelId="{C52DCEAC-D356-354C-B852-577EDBB6C7BA}" type="presParOf" srcId="{DD01E4B2-C35B-6745-B858-734E10EB1C76}" destId="{24B20267-C5BA-DA44-8538-B0419F4BEDBB}" srcOrd="2" destOrd="0" presId="urn:microsoft.com/office/officeart/2005/8/layout/lProcess3"/>
    <dgm:cxn modelId="{AA6993C7-ECFB-B24A-A94C-0083C72B2285}" type="presParOf" srcId="{24B20267-C5BA-DA44-8538-B0419F4BEDBB}" destId="{158F3783-801F-4145-8D80-2346BF9A0703}" srcOrd="0" destOrd="0" presId="urn:microsoft.com/office/officeart/2005/8/layout/lProcess3"/>
    <dgm:cxn modelId="{3DF532C6-62E3-0C43-AACF-EF3E6D83179B}" type="presParOf" srcId="{DD01E4B2-C35B-6745-B858-734E10EB1C76}" destId="{428D2F1E-EE20-B64C-B3DA-C1D20377C31A}" srcOrd="3" destOrd="0" presId="urn:microsoft.com/office/officeart/2005/8/layout/lProcess3"/>
    <dgm:cxn modelId="{1F6963D1-A9DF-A84F-B6B3-6A4247E9A06D}" type="presParOf" srcId="{DD01E4B2-C35B-6745-B858-734E10EB1C76}" destId="{BAC07963-094D-1B4D-B93F-8CD8B1FC4551}" srcOrd="4" destOrd="0" presId="urn:microsoft.com/office/officeart/2005/8/layout/lProcess3"/>
    <dgm:cxn modelId="{76E5DBC7-9B17-A449-9A6C-B4B3D0D6B78D}" type="presParOf" srcId="{BAC07963-094D-1B4D-B93F-8CD8B1FC4551}" destId="{6DB83E62-0068-3F4E-AD36-4007A07A6F8B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DF6092-B02D-EB47-8A37-E956928B752C}">
      <dsp:nvSpPr>
        <dsp:cNvPr id="0" name=""/>
        <dsp:cNvSpPr/>
      </dsp:nvSpPr>
      <dsp:spPr>
        <a:xfrm>
          <a:off x="932485" y="1645"/>
          <a:ext cx="3099388" cy="123975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0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kern="1200" dirty="0" err="1"/>
            <a:t>Sample</a:t>
          </a:r>
          <a:r>
            <a:rPr lang="fr-FR" sz="2100" kern="1200" dirty="0"/>
            <a:t> have to </a:t>
          </a:r>
          <a:r>
            <a:rPr lang="fr-FR" sz="2100" kern="1200" dirty="0" err="1"/>
            <a:t>be</a:t>
          </a:r>
          <a:r>
            <a:rPr lang="fr-FR" sz="2100" kern="1200" dirty="0"/>
            <a:t> &gt;50</a:t>
          </a:r>
        </a:p>
      </dsp:txBody>
      <dsp:txXfrm>
        <a:off x="1552363" y="1645"/>
        <a:ext cx="1859633" cy="1239755"/>
      </dsp:txXfrm>
    </dsp:sp>
    <dsp:sp modelId="{158F3783-801F-4145-8D80-2346BF9A0703}">
      <dsp:nvSpPr>
        <dsp:cNvPr id="0" name=""/>
        <dsp:cNvSpPr/>
      </dsp:nvSpPr>
      <dsp:spPr>
        <a:xfrm>
          <a:off x="932485" y="1414967"/>
          <a:ext cx="3099388" cy="123975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0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kern="1200" dirty="0"/>
            <a:t>Variable </a:t>
          </a:r>
          <a:r>
            <a:rPr lang="fr-FR" sz="2100" kern="1200" dirty="0" err="1"/>
            <a:t>should</a:t>
          </a:r>
          <a:r>
            <a:rPr lang="fr-FR" sz="2100" kern="1200" dirty="0"/>
            <a:t> </a:t>
          </a:r>
          <a:r>
            <a:rPr lang="fr-FR" sz="2100" kern="1200" dirty="0" err="1"/>
            <a:t>be</a:t>
          </a:r>
          <a:r>
            <a:rPr lang="fr-FR" sz="2100" kern="1200" dirty="0"/>
            <a:t> </a:t>
          </a:r>
          <a:r>
            <a:rPr lang="fr-FR" sz="2100" kern="1200" dirty="0" err="1"/>
            <a:t>normally</a:t>
          </a:r>
          <a:r>
            <a:rPr lang="fr-FR" sz="2100" kern="1200" dirty="0"/>
            <a:t> </a:t>
          </a:r>
          <a:r>
            <a:rPr lang="fr-FR" sz="2100" kern="1200" dirty="0" err="1"/>
            <a:t>distributed</a:t>
          </a:r>
          <a:endParaRPr lang="fr-FR" sz="2100" kern="1200" dirty="0"/>
        </a:p>
      </dsp:txBody>
      <dsp:txXfrm>
        <a:off x="1552363" y="1414967"/>
        <a:ext cx="1859633" cy="1239755"/>
      </dsp:txXfrm>
    </dsp:sp>
    <dsp:sp modelId="{B40D0E7D-E8DC-4149-8133-9D9FF9794842}">
      <dsp:nvSpPr>
        <dsp:cNvPr id="0" name=""/>
        <dsp:cNvSpPr/>
      </dsp:nvSpPr>
      <dsp:spPr>
        <a:xfrm>
          <a:off x="3628954" y="1520346"/>
          <a:ext cx="2572492" cy="1028997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10795" rIns="0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 dirty="0"/>
            <a:t>Test </a:t>
          </a:r>
          <a:r>
            <a:rPr lang="fr-FR" sz="1700" kern="1200" dirty="0" err="1"/>
            <a:t>using</a:t>
          </a:r>
          <a:r>
            <a:rPr lang="fr-FR" sz="1700" kern="1200" dirty="0"/>
            <a:t> q-q plot</a:t>
          </a:r>
        </a:p>
      </dsp:txBody>
      <dsp:txXfrm>
        <a:off x="4143453" y="1520346"/>
        <a:ext cx="1543495" cy="1028997"/>
      </dsp:txXfrm>
    </dsp:sp>
    <dsp:sp modelId="{F1EF0C3D-0848-214A-A335-DFF1FCC16BF7}">
      <dsp:nvSpPr>
        <dsp:cNvPr id="0" name=""/>
        <dsp:cNvSpPr/>
      </dsp:nvSpPr>
      <dsp:spPr>
        <a:xfrm>
          <a:off x="5841298" y="1520346"/>
          <a:ext cx="2572492" cy="1028997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10795" rIns="0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 dirty="0"/>
            <a:t>Test </a:t>
          </a:r>
          <a:r>
            <a:rPr lang="fr-FR" sz="1700" kern="1200" dirty="0" err="1"/>
            <a:t>using</a:t>
          </a:r>
          <a:r>
            <a:rPr lang="fr-FR" sz="1700" kern="1200" dirty="0"/>
            <a:t> </a:t>
          </a:r>
          <a:r>
            <a:rPr lang="fr-FR" sz="1700" kern="1200" dirty="0" err="1"/>
            <a:t>probability</a:t>
          </a:r>
          <a:r>
            <a:rPr lang="fr-FR" sz="1700" kern="1200" dirty="0"/>
            <a:t> </a:t>
          </a:r>
          <a:r>
            <a:rPr lang="fr-FR" sz="1700" kern="1200" dirty="0" err="1"/>
            <a:t>density</a:t>
          </a:r>
          <a:r>
            <a:rPr lang="fr-FR" sz="1700" kern="1200" dirty="0"/>
            <a:t> </a:t>
          </a:r>
          <a:r>
            <a:rPr lang="fr-FR" sz="1700" kern="1200" dirty="0" err="1"/>
            <a:t>function</a:t>
          </a:r>
          <a:r>
            <a:rPr lang="fr-FR" sz="1700" kern="1200" dirty="0"/>
            <a:t> (PDF)</a:t>
          </a:r>
        </a:p>
      </dsp:txBody>
      <dsp:txXfrm>
        <a:off x="6355797" y="1520346"/>
        <a:ext cx="1543495" cy="1028997"/>
      </dsp:txXfrm>
    </dsp:sp>
    <dsp:sp modelId="{6DB83E62-0068-3F4E-AD36-4007A07A6F8B}">
      <dsp:nvSpPr>
        <dsp:cNvPr id="0" name=""/>
        <dsp:cNvSpPr/>
      </dsp:nvSpPr>
      <dsp:spPr>
        <a:xfrm>
          <a:off x="932485" y="2828288"/>
          <a:ext cx="3099388" cy="123975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0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kern="1200" dirty="0" err="1"/>
            <a:t>T</a:t>
          </a:r>
          <a:r>
            <a:rPr lang="fr-FR" sz="2100" kern="1200" dirty="0"/>
            <a:t>-Test</a:t>
          </a:r>
        </a:p>
      </dsp:txBody>
      <dsp:txXfrm>
        <a:off x="1552363" y="2828288"/>
        <a:ext cx="1859633" cy="1239755"/>
      </dsp:txXfrm>
    </dsp:sp>
    <dsp:sp modelId="{E86E57CC-E239-B54B-8730-64D43A20CA9C}">
      <dsp:nvSpPr>
        <dsp:cNvPr id="0" name=""/>
        <dsp:cNvSpPr/>
      </dsp:nvSpPr>
      <dsp:spPr>
        <a:xfrm>
          <a:off x="3628954" y="2933667"/>
          <a:ext cx="2572492" cy="1028997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10795" rIns="0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 dirty="0" err="1"/>
            <a:t>T</a:t>
          </a:r>
          <a:r>
            <a:rPr lang="fr-FR" sz="1700" kern="1200" dirty="0"/>
            <a:t>-Value = </a:t>
          </a:r>
          <a:r>
            <a:rPr lang="fr-FR" sz="1700" kern="1200" dirty="0" err="1"/>
            <a:t>wich</a:t>
          </a:r>
          <a:r>
            <a:rPr lang="fr-FR" sz="1700" kern="1200" dirty="0"/>
            <a:t> </a:t>
          </a:r>
          <a:r>
            <a:rPr lang="fr-FR" sz="1700" kern="1200" dirty="0" err="1"/>
            <a:t>mean</a:t>
          </a:r>
          <a:r>
            <a:rPr lang="fr-FR" sz="1700" kern="1200" dirty="0"/>
            <a:t> </a:t>
          </a:r>
          <a:r>
            <a:rPr lang="fr-FR" sz="1700" kern="1200" dirty="0" err="1"/>
            <a:t>is</a:t>
          </a:r>
          <a:r>
            <a:rPr lang="fr-FR" sz="1700" kern="1200" dirty="0"/>
            <a:t> the </a:t>
          </a:r>
          <a:r>
            <a:rPr lang="fr-FR" sz="1700" kern="1200" dirty="0" err="1"/>
            <a:t>biggest</a:t>
          </a:r>
          <a:endParaRPr lang="fr-FR" sz="1700" kern="1200" dirty="0"/>
        </a:p>
      </dsp:txBody>
      <dsp:txXfrm>
        <a:off x="4143453" y="2933667"/>
        <a:ext cx="1543495" cy="1028997"/>
      </dsp:txXfrm>
    </dsp:sp>
    <dsp:sp modelId="{6D6EF954-9B83-A243-930F-8E700F92908A}">
      <dsp:nvSpPr>
        <dsp:cNvPr id="0" name=""/>
        <dsp:cNvSpPr/>
      </dsp:nvSpPr>
      <dsp:spPr>
        <a:xfrm>
          <a:off x="5841298" y="2933667"/>
          <a:ext cx="3480737" cy="1028997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10795" rIns="0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 dirty="0"/>
            <a:t>P-Value = </a:t>
          </a:r>
          <a:r>
            <a:rPr lang="fr-FR" sz="1700" kern="1200" dirty="0" err="1"/>
            <a:t>significance</a:t>
          </a:r>
          <a:r>
            <a:rPr lang="fr-FR" sz="1700" kern="1200" dirty="0"/>
            <a:t> </a:t>
          </a:r>
          <a:r>
            <a:rPr lang="fr-FR" sz="1700" kern="1200" dirty="0" err="1"/>
            <a:t>level</a:t>
          </a:r>
          <a:r>
            <a:rPr lang="fr-FR" sz="1700" kern="1200" dirty="0"/>
            <a:t>:</a:t>
          </a:r>
          <a:br>
            <a:rPr lang="fr-FR" sz="1700" kern="1200" dirty="0"/>
          </a:br>
          <a:r>
            <a:rPr lang="fr-FR" sz="1700" kern="1200" dirty="0"/>
            <a:t>if p&lt;0.05 </a:t>
          </a:r>
          <a:r>
            <a:rPr lang="fr-FR" sz="1700" kern="1200" dirty="0" err="1"/>
            <a:t>then</a:t>
          </a:r>
          <a:r>
            <a:rPr lang="fr-FR" sz="1700" kern="1200" dirty="0"/>
            <a:t> </a:t>
          </a:r>
          <a:r>
            <a:rPr lang="fr-FR" sz="1700" kern="1200" dirty="0" err="1"/>
            <a:t>we</a:t>
          </a:r>
          <a:r>
            <a:rPr lang="fr-FR" sz="1700" kern="1200" dirty="0"/>
            <a:t> </a:t>
          </a:r>
          <a:r>
            <a:rPr lang="fr-FR" sz="1700" kern="1200" dirty="0" err="1"/>
            <a:t>reject</a:t>
          </a:r>
          <a:r>
            <a:rPr lang="fr-FR" sz="1700" kern="1200" dirty="0"/>
            <a:t> H</a:t>
          </a:r>
          <a:r>
            <a:rPr lang="fr-FR" sz="1700" kern="1200" baseline="-25000" dirty="0"/>
            <a:t>0</a:t>
          </a:r>
        </a:p>
      </dsp:txBody>
      <dsp:txXfrm>
        <a:off x="6355797" y="2933667"/>
        <a:ext cx="2451740" cy="102899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DF6092-B02D-EB47-8A37-E956928B752C}">
      <dsp:nvSpPr>
        <dsp:cNvPr id="0" name=""/>
        <dsp:cNvSpPr/>
      </dsp:nvSpPr>
      <dsp:spPr>
        <a:xfrm>
          <a:off x="0" y="342655"/>
          <a:ext cx="2579557" cy="103182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1430" rIns="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 err="1"/>
            <a:t>Sample</a:t>
          </a:r>
          <a:r>
            <a:rPr lang="fr-FR" sz="1800" kern="1200" dirty="0"/>
            <a:t> have to </a:t>
          </a:r>
          <a:r>
            <a:rPr lang="fr-FR" sz="1800" kern="1200" dirty="0" err="1"/>
            <a:t>be</a:t>
          </a:r>
          <a:r>
            <a:rPr lang="fr-FR" sz="1800" kern="1200" dirty="0"/>
            <a:t> &gt;50</a:t>
          </a:r>
        </a:p>
      </dsp:txBody>
      <dsp:txXfrm>
        <a:off x="515911" y="342655"/>
        <a:ext cx="1547735" cy="1031822"/>
      </dsp:txXfrm>
    </dsp:sp>
    <dsp:sp modelId="{158F3783-801F-4145-8D80-2346BF9A0703}">
      <dsp:nvSpPr>
        <dsp:cNvPr id="0" name=""/>
        <dsp:cNvSpPr/>
      </dsp:nvSpPr>
      <dsp:spPr>
        <a:xfrm>
          <a:off x="0" y="1518933"/>
          <a:ext cx="2579557" cy="103182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1430" rIns="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/>
            <a:t>Variable </a:t>
          </a:r>
          <a:r>
            <a:rPr lang="fr-FR" sz="1800" kern="1200" dirty="0" err="1"/>
            <a:t>should</a:t>
          </a:r>
          <a:r>
            <a:rPr lang="fr-FR" sz="1800" kern="1200" dirty="0"/>
            <a:t> </a:t>
          </a:r>
          <a:r>
            <a:rPr lang="fr-FR" sz="1800" kern="1200" dirty="0" err="1"/>
            <a:t>be</a:t>
          </a:r>
          <a:r>
            <a:rPr lang="fr-FR" sz="1800" kern="1200" dirty="0"/>
            <a:t> </a:t>
          </a:r>
          <a:r>
            <a:rPr lang="fr-FR" sz="1800" kern="1200" dirty="0" err="1"/>
            <a:t>normally</a:t>
          </a:r>
          <a:r>
            <a:rPr lang="fr-FR" sz="1800" kern="1200" dirty="0"/>
            <a:t> </a:t>
          </a:r>
          <a:r>
            <a:rPr lang="fr-FR" sz="1800" kern="1200" dirty="0" err="1"/>
            <a:t>distributed</a:t>
          </a:r>
          <a:endParaRPr lang="fr-FR" sz="1800" kern="1200" dirty="0"/>
        </a:p>
      </dsp:txBody>
      <dsp:txXfrm>
        <a:off x="515911" y="1518933"/>
        <a:ext cx="1547735" cy="1031822"/>
      </dsp:txXfrm>
    </dsp:sp>
    <dsp:sp modelId="{6DB83E62-0068-3F4E-AD36-4007A07A6F8B}">
      <dsp:nvSpPr>
        <dsp:cNvPr id="0" name=""/>
        <dsp:cNvSpPr/>
      </dsp:nvSpPr>
      <dsp:spPr>
        <a:xfrm>
          <a:off x="0" y="2695211"/>
          <a:ext cx="2579557" cy="103182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1430" rIns="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 err="1"/>
            <a:t>T</a:t>
          </a:r>
          <a:r>
            <a:rPr lang="fr-FR" sz="1800" kern="1200" dirty="0"/>
            <a:t>-Test</a:t>
          </a:r>
        </a:p>
      </dsp:txBody>
      <dsp:txXfrm>
        <a:off x="515911" y="2695211"/>
        <a:ext cx="1547735" cy="103182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DF6092-B02D-EB47-8A37-E956928B752C}">
      <dsp:nvSpPr>
        <dsp:cNvPr id="0" name=""/>
        <dsp:cNvSpPr/>
      </dsp:nvSpPr>
      <dsp:spPr>
        <a:xfrm>
          <a:off x="0" y="342655"/>
          <a:ext cx="2579557" cy="103182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1430" rIns="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 err="1"/>
            <a:t>Sample</a:t>
          </a:r>
          <a:r>
            <a:rPr lang="fr-FR" sz="1800" kern="1200" dirty="0"/>
            <a:t> have to </a:t>
          </a:r>
          <a:r>
            <a:rPr lang="fr-FR" sz="1800" kern="1200" dirty="0" err="1"/>
            <a:t>be</a:t>
          </a:r>
          <a:r>
            <a:rPr lang="fr-FR" sz="1800" kern="1200" dirty="0"/>
            <a:t> &gt;50</a:t>
          </a:r>
        </a:p>
      </dsp:txBody>
      <dsp:txXfrm>
        <a:off x="515911" y="342655"/>
        <a:ext cx="1547735" cy="1031822"/>
      </dsp:txXfrm>
    </dsp:sp>
    <dsp:sp modelId="{158F3783-801F-4145-8D80-2346BF9A0703}">
      <dsp:nvSpPr>
        <dsp:cNvPr id="0" name=""/>
        <dsp:cNvSpPr/>
      </dsp:nvSpPr>
      <dsp:spPr>
        <a:xfrm>
          <a:off x="0" y="1518933"/>
          <a:ext cx="2579557" cy="103182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1430" rIns="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/>
            <a:t>Variable </a:t>
          </a:r>
          <a:r>
            <a:rPr lang="fr-FR" sz="1800" kern="1200" dirty="0" err="1"/>
            <a:t>should</a:t>
          </a:r>
          <a:r>
            <a:rPr lang="fr-FR" sz="1800" kern="1200" dirty="0"/>
            <a:t> </a:t>
          </a:r>
          <a:r>
            <a:rPr lang="fr-FR" sz="1800" kern="1200" dirty="0" err="1"/>
            <a:t>be</a:t>
          </a:r>
          <a:r>
            <a:rPr lang="fr-FR" sz="1800" kern="1200" dirty="0"/>
            <a:t> </a:t>
          </a:r>
          <a:r>
            <a:rPr lang="fr-FR" sz="1800" kern="1200" dirty="0" err="1"/>
            <a:t>normally</a:t>
          </a:r>
          <a:r>
            <a:rPr lang="fr-FR" sz="1800" kern="1200" dirty="0"/>
            <a:t> </a:t>
          </a:r>
          <a:r>
            <a:rPr lang="fr-FR" sz="1800" kern="1200" dirty="0" err="1"/>
            <a:t>distributed</a:t>
          </a:r>
          <a:endParaRPr lang="fr-FR" sz="1800" kern="1200" dirty="0"/>
        </a:p>
      </dsp:txBody>
      <dsp:txXfrm>
        <a:off x="515911" y="1518933"/>
        <a:ext cx="1547735" cy="1031822"/>
      </dsp:txXfrm>
    </dsp:sp>
    <dsp:sp modelId="{6DB83E62-0068-3F4E-AD36-4007A07A6F8B}">
      <dsp:nvSpPr>
        <dsp:cNvPr id="0" name=""/>
        <dsp:cNvSpPr/>
      </dsp:nvSpPr>
      <dsp:spPr>
        <a:xfrm>
          <a:off x="0" y="2695211"/>
          <a:ext cx="2579557" cy="103182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1430" rIns="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 err="1"/>
            <a:t>T</a:t>
          </a:r>
          <a:r>
            <a:rPr lang="fr-FR" sz="1800" kern="1200" dirty="0"/>
            <a:t>-Test</a:t>
          </a:r>
        </a:p>
      </dsp:txBody>
      <dsp:txXfrm>
        <a:off x="515911" y="2695211"/>
        <a:ext cx="1547735" cy="103182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0224A2-E99D-67FD-A8D4-F7A0A9B17F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D05FEB8-80AC-31D9-4F69-F0F2306CE6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F98D595-C3A4-3413-CB3C-B476B0D55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9A80D-3CFB-8E4C-A6C3-F5BFDD94BCAD}" type="datetimeFigureOut">
              <a:rPr lang="fr-CH" smtClean="0"/>
              <a:t>28.08.25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5DEEA3E-0C07-42C8-FC57-E4D7EF262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D045551-6239-108B-8846-009C230F0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9900E-2E92-564D-94F0-883CA8314C19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105369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EBCD2E-A9E3-C589-5BE7-DE44302CB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8495BD2-0D2A-CC4B-766B-7BE9A1D789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53145E4-3301-9E15-C772-BAF2FE808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9A80D-3CFB-8E4C-A6C3-F5BFDD94BCAD}" type="datetimeFigureOut">
              <a:rPr lang="fr-CH" smtClean="0"/>
              <a:t>28.08.25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4C6BC61-F2BE-0426-7DDC-01191BAA1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33109A9-E8DA-E556-85CF-20C39C6B5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9900E-2E92-564D-94F0-883CA8314C19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600583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C438EB-59BE-659C-8907-2010B7499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D52AE53-1072-F51C-D857-CD3920F58A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BDCE839-8B86-5D5C-B105-42D1F183B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9A80D-3CFB-8E4C-A6C3-F5BFDD94BCAD}" type="datetimeFigureOut">
              <a:rPr lang="fr-CH" smtClean="0"/>
              <a:t>28.08.25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5BBE667-1D55-0E10-8346-2C582BB6E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0AEB354-12F1-688B-84E9-91E23D1CD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9900E-2E92-564D-94F0-883CA8314C19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242827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1029D2-64E2-7E2C-0588-4169870B4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91BF25D-5A72-D2F6-874D-920D397DA8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6BA9AD4-96B7-2D4E-9C8E-A5AB424611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0A81EBA-3261-1411-04C9-CA972A07B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9A80D-3CFB-8E4C-A6C3-F5BFDD94BCAD}" type="datetimeFigureOut">
              <a:rPr lang="fr-CH" smtClean="0"/>
              <a:t>28.08.25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74DE424-0F6F-0C8F-DF9A-7A87582F7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8E4AA6D-0F53-762C-5212-A703A8A6C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9900E-2E92-564D-94F0-883CA8314C19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656564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28578E-872F-5348-9148-96D4B57B0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2E93A7B-EABC-DE32-BA71-5966BAED76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3A1FF52-4705-A397-24E9-4950A7D83A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7D7C839-FDF4-BE1D-723C-FB0F068146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3127DE5-BBEE-67F5-EC93-02C37FBA57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8635D4F-F43D-D7DE-92BC-2E9E629AF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9A80D-3CFB-8E4C-A6C3-F5BFDD94BCAD}" type="datetimeFigureOut">
              <a:rPr lang="fr-CH" smtClean="0"/>
              <a:t>28.08.25</a:t>
            </a:fld>
            <a:endParaRPr lang="fr-CH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D1421058-E82D-78B7-2C40-8054DE4D6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ABC6C6F3-CE65-416A-82DE-A9037B93E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9900E-2E92-564D-94F0-883CA8314C19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240106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1B5B56-F118-76C3-1C99-1F0B90485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39E4641-F623-3071-7E76-86F62A40E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9A80D-3CFB-8E4C-A6C3-F5BFDD94BCAD}" type="datetimeFigureOut">
              <a:rPr lang="fr-CH" smtClean="0"/>
              <a:t>28.08.25</a:t>
            </a:fld>
            <a:endParaRPr lang="fr-CH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3D06F82-A4E2-18E2-C811-385947A5A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178528B-085B-2BFE-FBD3-AD4B14730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9900E-2E92-564D-94F0-883CA8314C19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621700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4D498AD-73ED-EA85-7EDC-A410D6DF8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9A80D-3CFB-8E4C-A6C3-F5BFDD94BCAD}" type="datetimeFigureOut">
              <a:rPr lang="fr-CH" smtClean="0"/>
              <a:t>28.08.25</a:t>
            </a:fld>
            <a:endParaRPr lang="fr-CH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2E58114-86F2-797C-A494-1B95173A1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0393B22-7D01-01F9-5F63-12CAAC50C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9900E-2E92-564D-94F0-883CA8314C19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878043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27127C-E7F0-166C-EA30-B5D8E60EE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40A0BD7-10AF-51A7-DEAD-C5CC3032AF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9DA1E20-29FF-A8CA-68C0-2BE85D15E1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8626B10-7EFB-0B50-732C-5CB042514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9A80D-3CFB-8E4C-A6C3-F5BFDD94BCAD}" type="datetimeFigureOut">
              <a:rPr lang="fr-CH" smtClean="0"/>
              <a:t>28.08.25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DA1DC33-FB26-541E-244C-AD000182A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96CE5F0-523F-4D76-8621-B5104B1DE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9900E-2E92-564D-94F0-883CA8314C19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284828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6059DE-DDCE-2109-E8F4-C41E55239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74F5615-590B-A06C-12EE-0896AB3373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H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BE044D6-261A-654A-433E-BC8A215943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DC87722-0ECC-8F53-CD93-E89043E20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9A80D-3CFB-8E4C-A6C3-F5BFDD94BCAD}" type="datetimeFigureOut">
              <a:rPr lang="fr-CH" smtClean="0"/>
              <a:t>28.08.25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BFCB947-429F-F552-E64C-AC2CB6354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5E65080-D63F-8BCF-FEEC-5B33DDB87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9900E-2E92-564D-94F0-883CA8314C19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235080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A505EF-1434-5074-BBE7-01709F20E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6E5DC46-9D50-8C82-B647-8BC17DED95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DA20DAA-8A95-E1F9-1BDE-83C51D408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9A80D-3CFB-8E4C-A6C3-F5BFDD94BCAD}" type="datetimeFigureOut">
              <a:rPr lang="fr-CH" smtClean="0"/>
              <a:t>28.08.25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A29795A-DA6D-8F92-A83C-4DFFE01A4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A16E5E9-8558-52A2-362C-5F17010CD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9900E-2E92-564D-94F0-883CA8314C19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920934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D0BD6A4-0348-573A-11D2-81BBCCBC15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A89DFA3-CD2F-F05A-389A-1368FFF337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533F150-3E3D-B9A6-449E-C66EDC5FF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9A80D-3CFB-8E4C-A6C3-F5BFDD94BCAD}" type="datetimeFigureOut">
              <a:rPr lang="fr-CH" smtClean="0"/>
              <a:t>28.08.25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73A4279-BCB5-0CBC-A6F3-0A05C111F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46FD570-B68D-C9DC-72AD-467B84278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9900E-2E92-564D-94F0-883CA8314C19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35804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C1F8D2B-D1F7-D205-8B38-24843864A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62B0C2F-DB5F-C162-6B59-63F1A657ED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3819415-3C54-F6EC-2951-D01E4DED15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69A80D-3CFB-8E4C-A6C3-F5BFDD94BCAD}" type="datetimeFigureOut">
              <a:rPr lang="fr-CH" smtClean="0"/>
              <a:t>28.08.25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347D51D-5876-A5CC-F93F-E9A0AA4144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EBAF4DB-32BB-4ED9-6675-369BE9AE02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09900E-2E92-564D-94F0-883CA8314C19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000791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diagramLayout" Target="../diagrams/layout2.xml"/><Relationship Id="rId7" Type="http://schemas.openxmlformats.org/officeDocument/2006/relationships/image" Target="../media/image4.jpe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Relationship Id="rId9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7.jpe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F08A1E-F391-D4E8-D402-C7D51D15C3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H" dirty="0"/>
              <a:t>Welch-</a:t>
            </a:r>
            <a:r>
              <a:rPr lang="fr-CH" dirty="0" err="1"/>
              <a:t>T</a:t>
            </a:r>
            <a:r>
              <a:rPr lang="fr-CH" dirty="0"/>
              <a:t>-Test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E74CEF3-8179-E24D-A330-63144B7933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CH" dirty="0"/>
              <a:t>Meli &amp; Vlad &amp; Gui</a:t>
            </a:r>
          </a:p>
        </p:txBody>
      </p:sp>
    </p:spTree>
    <p:extLst>
      <p:ext uri="{BB962C8B-B14F-4D97-AF65-F5344CB8AC3E}">
        <p14:creationId xmlns:p14="http://schemas.microsoft.com/office/powerpoint/2010/main" val="2949834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1D4607-988A-9E53-403B-277BD827A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err="1"/>
              <a:t>Definition</a:t>
            </a:r>
            <a:endParaRPr lang="fr-C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D2EDBFAD-9CC9-9B61-CA6A-578BB7487CB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:r>
                  <a:rPr lang="fr-CH" dirty="0"/>
                  <a:t>You </a:t>
                </a:r>
                <a:r>
                  <a:rPr lang="fr-CH" dirty="0" err="1"/>
                  <a:t>want</a:t>
                </a:r>
                <a:r>
                  <a:rPr lang="fr-CH" dirty="0"/>
                  <a:t> to compare the </a:t>
                </a:r>
                <a:r>
                  <a:rPr lang="fr-CH" b="1" dirty="0" err="1"/>
                  <a:t>mean</a:t>
                </a:r>
                <a:r>
                  <a:rPr lang="fr-CH" dirty="0"/>
                  <a:t> </a:t>
                </a:r>
                <a:r>
                  <a:rPr lang="fr-CH" dirty="0" err="1"/>
                  <a:t>between</a:t>
                </a:r>
                <a:r>
                  <a:rPr lang="fr-CH" dirty="0"/>
                  <a:t> </a:t>
                </a:r>
                <a:r>
                  <a:rPr lang="fr-CH" dirty="0" err="1"/>
                  <a:t>two</a:t>
                </a:r>
                <a:r>
                  <a:rPr lang="fr-CH" dirty="0"/>
                  <a:t> </a:t>
                </a:r>
                <a:r>
                  <a:rPr lang="fr-CH" b="1" dirty="0" err="1"/>
                  <a:t>unpaired</a:t>
                </a:r>
                <a:r>
                  <a:rPr lang="fr-CH" dirty="0"/>
                  <a:t> </a:t>
                </a:r>
                <a:r>
                  <a:rPr lang="fr-CH" dirty="0" err="1"/>
                  <a:t>samples</a:t>
                </a:r>
                <a:r>
                  <a:rPr lang="fr-CH" dirty="0"/>
                  <a:t> </a:t>
                </a:r>
                <a:r>
                  <a:rPr lang="fr-CH" dirty="0" err="1"/>
                  <a:t>that</a:t>
                </a:r>
                <a:r>
                  <a:rPr lang="fr-CH" dirty="0"/>
                  <a:t> have </a:t>
                </a:r>
                <a:r>
                  <a:rPr lang="fr-CH" b="1" dirty="0" err="1"/>
                  <a:t>different</a:t>
                </a:r>
                <a:r>
                  <a:rPr lang="fr-CH" b="1" dirty="0"/>
                  <a:t> variance.</a:t>
                </a:r>
              </a:p>
              <a:p>
                <a:pPr marL="0" indent="0">
                  <a:buNone/>
                </a:pPr>
                <a:endParaRPr lang="fr-CH" b="1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CH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CH" sz="2000" b="0" i="1" smtClean="0">
                              <a:latin typeface="Cambria Math" panose="02040503050406030204" pitchFamily="18" charset="0"/>
                            </a:rPr>
                            <m:t>𝐷𝑖𝑓𝑓𝑒𝑟𝑒𝑛𝑐𝑒</m:t>
                          </m:r>
                          <m:r>
                            <a:rPr lang="fr-CH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CH" sz="2000" b="0" i="1" smtClean="0">
                              <a:latin typeface="Cambria Math" panose="02040503050406030204" pitchFamily="18" charset="0"/>
                            </a:rPr>
                            <m:t>𝑏𝑒𝑡𝑤𝑒𝑒𝑛</m:t>
                          </m:r>
                          <m:r>
                            <a:rPr lang="fr-CH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CH" sz="2000" b="0" i="1" smtClean="0">
                              <a:latin typeface="Cambria Math" panose="02040503050406030204" pitchFamily="18" charset="0"/>
                            </a:rPr>
                            <m:t>𝑡h𝑒</m:t>
                          </m:r>
                          <m:r>
                            <a:rPr lang="fr-CH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CH" sz="2000" b="0" i="1" smtClean="0">
                              <a:latin typeface="Cambria Math" panose="02040503050406030204" pitchFamily="18" charset="0"/>
                            </a:rPr>
                            <m:t>𝑚𝑒𝑎𝑛</m:t>
                          </m:r>
                          <m:r>
                            <a:rPr lang="fr-CH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CH" sz="2000" b="0" i="1" smtClean="0">
                              <a:latin typeface="Cambria Math" panose="02040503050406030204" pitchFamily="18" charset="0"/>
                            </a:rPr>
                            <m:t>𝑣𝑎𝑙𝑢𝑒𝑠</m:t>
                          </m:r>
                        </m:num>
                        <m:den>
                          <m:r>
                            <a:rPr lang="fr-CH" sz="2000" b="0" i="1" smtClean="0">
                              <a:latin typeface="Cambria Math" panose="02040503050406030204" pitchFamily="18" charset="0"/>
                            </a:rPr>
                            <m:t>𝑖𝑛𝑐𝑜𝑛𝑠𝑖𝑠𝑡𝑒𝑛𝑡</m:t>
                          </m:r>
                          <m:r>
                            <a:rPr lang="fr-CH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CH" sz="2000" b="0" i="1" smtClean="0">
                              <a:latin typeface="Cambria Math" panose="02040503050406030204" pitchFamily="18" charset="0"/>
                            </a:rPr>
                            <m:t>𝑣𝑎𝑟𝑖𝑎𝑛𝑐𝑒</m:t>
                          </m:r>
                          <m:r>
                            <a:rPr lang="fr-CH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CH" sz="20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fr-CH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CH" sz="2000" b="0" i="1" smtClean="0">
                              <a:latin typeface="Cambria Math" panose="02040503050406030204" pitchFamily="18" charset="0"/>
                            </a:rPr>
                            <m:t>𝑡h𝑒</m:t>
                          </m:r>
                          <m:r>
                            <a:rPr lang="fr-CH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CH" sz="2000" b="0" i="1" smtClean="0">
                              <a:latin typeface="Cambria Math" panose="02040503050406030204" pitchFamily="18" charset="0"/>
                            </a:rPr>
                            <m:t>𝑔𝑟𝑜𝑢𝑝𝑠</m:t>
                          </m:r>
                        </m:den>
                      </m:f>
                    </m:oMath>
                  </m:oMathPara>
                </a14:m>
                <a:endParaRPr lang="fr-CH" dirty="0"/>
              </a:p>
              <a:p>
                <a:pPr marL="0" indent="0">
                  <a:buNone/>
                </a:pPr>
                <a:endParaRPr lang="fr-CH" dirty="0"/>
              </a:p>
              <a:p>
                <a:pPr marL="0" indent="0">
                  <a:buNone/>
                </a:pPr>
                <a:endParaRPr lang="fr-CH" dirty="0"/>
              </a:p>
              <a:p>
                <a:pPr marL="0" indent="0">
                  <a:buNone/>
                </a:pPr>
                <a:r>
                  <a:rPr lang="fr-CH" sz="2600" dirty="0"/>
                  <a:t>H</a:t>
                </a:r>
                <a:r>
                  <a:rPr lang="fr-CH" sz="2600" baseline="-25000" dirty="0"/>
                  <a:t>0</a:t>
                </a:r>
                <a:r>
                  <a:rPr lang="fr-CH" sz="2600" dirty="0"/>
                  <a:t>: There </a:t>
                </a:r>
                <a:r>
                  <a:rPr lang="fr-CH" sz="2600" dirty="0" err="1"/>
                  <a:t>is</a:t>
                </a:r>
                <a:r>
                  <a:rPr lang="fr-CH" sz="2600" dirty="0"/>
                  <a:t> no </a:t>
                </a:r>
                <a:r>
                  <a:rPr lang="fr-CH" sz="2600" dirty="0" err="1"/>
                  <a:t>statistically</a:t>
                </a:r>
                <a:r>
                  <a:rPr lang="fr-CH" sz="2600" dirty="0"/>
                  <a:t> </a:t>
                </a:r>
                <a:r>
                  <a:rPr lang="fr-CH" sz="2600" dirty="0" err="1"/>
                  <a:t>significant</a:t>
                </a:r>
                <a:r>
                  <a:rPr lang="fr-CH" sz="2600" dirty="0"/>
                  <a:t> </a:t>
                </a:r>
                <a:r>
                  <a:rPr lang="fr-CH" sz="2600" dirty="0" err="1"/>
                  <a:t>difference</a:t>
                </a:r>
                <a:r>
                  <a:rPr lang="fr-CH" sz="2600" dirty="0"/>
                  <a:t> </a:t>
                </a:r>
                <a:r>
                  <a:rPr lang="fr-CH" sz="2600" dirty="0" err="1"/>
                  <a:t>between</a:t>
                </a:r>
                <a:r>
                  <a:rPr lang="fr-CH" sz="2600" dirty="0"/>
                  <a:t> the groups.</a:t>
                </a:r>
              </a:p>
              <a:p>
                <a:pPr marL="0" indent="0">
                  <a:buNone/>
                </a:pPr>
                <a:r>
                  <a:rPr lang="fr-CH" sz="2600" dirty="0"/>
                  <a:t>H</a:t>
                </a:r>
                <a:r>
                  <a:rPr lang="fr-CH" sz="2600" baseline="-25000" dirty="0"/>
                  <a:t>1</a:t>
                </a:r>
                <a:r>
                  <a:rPr lang="fr-CH" sz="2600" dirty="0"/>
                  <a:t>: There </a:t>
                </a:r>
                <a:r>
                  <a:rPr lang="fr-CH" sz="2600" dirty="0" err="1"/>
                  <a:t>is</a:t>
                </a:r>
                <a:r>
                  <a:rPr lang="fr-CH" sz="2600" dirty="0"/>
                  <a:t> </a:t>
                </a:r>
                <a:r>
                  <a:rPr lang="fr-CH" sz="2600" dirty="0" err="1"/>
                  <a:t>statistically</a:t>
                </a:r>
                <a:r>
                  <a:rPr lang="fr-CH" sz="2600" dirty="0"/>
                  <a:t> </a:t>
                </a:r>
                <a:r>
                  <a:rPr lang="fr-CH" sz="2600" dirty="0" err="1"/>
                  <a:t>significant</a:t>
                </a:r>
                <a:r>
                  <a:rPr lang="fr-CH" sz="2600" dirty="0"/>
                  <a:t> </a:t>
                </a:r>
                <a:r>
                  <a:rPr lang="fr-CH" sz="2600" dirty="0" err="1"/>
                  <a:t>difference</a:t>
                </a:r>
                <a:r>
                  <a:rPr lang="fr-CH" sz="2600" dirty="0"/>
                  <a:t> </a:t>
                </a:r>
                <a:r>
                  <a:rPr lang="fr-CH" sz="2600" dirty="0" err="1"/>
                  <a:t>between</a:t>
                </a:r>
                <a:r>
                  <a:rPr lang="fr-CH" sz="2600" dirty="0"/>
                  <a:t> the groups.</a:t>
                </a:r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D2EDBFAD-9CC9-9B61-CA6A-578BB7487C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fr-C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 4">
            <a:extLst>
              <a:ext uri="{FF2B5EF4-FFF2-40B4-BE49-F238E27FC236}">
                <a16:creationId xmlns:a16="http://schemas.microsoft.com/office/drawing/2014/main" id="{C9A98384-397F-CCBC-1BE2-D64182C57E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6451" y="2820520"/>
            <a:ext cx="1866004" cy="1216959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2D5082AF-FA1F-A46D-EF88-4AC8C11EF6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3810" y="2923054"/>
            <a:ext cx="4318190" cy="1011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3228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07ACFC-AA29-A4B7-E450-AD1370C8F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/>
              <a:t>Example:</a:t>
            </a:r>
            <a:endParaRPr lang="fr-CH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269C339-D850-BDAD-62A3-582898625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CH" dirty="0" err="1"/>
              <a:t>We</a:t>
            </a:r>
            <a:r>
              <a:rPr lang="fr-CH" dirty="0"/>
              <a:t> </a:t>
            </a:r>
            <a:r>
              <a:rPr lang="fr-CH" dirty="0" err="1"/>
              <a:t>want</a:t>
            </a:r>
            <a:r>
              <a:rPr lang="fr-CH" dirty="0"/>
              <a:t> to know if the </a:t>
            </a:r>
            <a:r>
              <a:rPr lang="fr-CH" dirty="0" err="1"/>
              <a:t>result</a:t>
            </a:r>
            <a:r>
              <a:rPr lang="fr-CH" dirty="0"/>
              <a:t> to a test </a:t>
            </a:r>
            <a:r>
              <a:rPr lang="fr-CH" dirty="0" err="1"/>
              <a:t>is</a:t>
            </a:r>
            <a:r>
              <a:rPr lang="fr-CH" dirty="0"/>
              <a:t> </a:t>
            </a:r>
            <a:r>
              <a:rPr lang="fr-CH" dirty="0" err="1"/>
              <a:t>significant</a:t>
            </a:r>
            <a:r>
              <a:rPr lang="fr-CH" dirty="0"/>
              <a:t> </a:t>
            </a:r>
            <a:r>
              <a:rPr lang="fr-CH" dirty="0" err="1"/>
              <a:t>between</a:t>
            </a:r>
            <a:r>
              <a:rPr lang="fr-CH" dirty="0"/>
              <a:t> </a:t>
            </a:r>
            <a:r>
              <a:rPr lang="fr-CH" dirty="0" err="1"/>
              <a:t>two</a:t>
            </a:r>
            <a:r>
              <a:rPr lang="fr-CH" dirty="0"/>
              <a:t> classes </a:t>
            </a:r>
            <a:r>
              <a:rPr lang="fr-CH" dirty="0" err="1"/>
              <a:t>that</a:t>
            </a:r>
            <a:r>
              <a:rPr lang="fr-CH" dirty="0"/>
              <a:t> have </a:t>
            </a:r>
            <a:r>
              <a:rPr lang="fr-CH" dirty="0" err="1"/>
              <a:t>two</a:t>
            </a:r>
            <a:r>
              <a:rPr lang="fr-CH" dirty="0"/>
              <a:t> </a:t>
            </a:r>
            <a:r>
              <a:rPr lang="fr-CH" dirty="0" err="1"/>
              <a:t>different</a:t>
            </a:r>
            <a:r>
              <a:rPr lang="fr-CH" dirty="0"/>
              <a:t> </a:t>
            </a:r>
            <a:r>
              <a:rPr lang="fr-CH" dirty="0" err="1"/>
              <a:t>teacher</a:t>
            </a:r>
            <a:r>
              <a:rPr lang="fr-CH" dirty="0"/>
              <a:t> for the </a:t>
            </a:r>
            <a:r>
              <a:rPr lang="fr-CH" dirty="0" err="1"/>
              <a:t>same</a:t>
            </a:r>
            <a:r>
              <a:rPr lang="fr-CH" dirty="0"/>
              <a:t> </a:t>
            </a:r>
            <a:r>
              <a:rPr lang="fr-CH" dirty="0" err="1"/>
              <a:t>statistic</a:t>
            </a:r>
            <a:r>
              <a:rPr lang="fr-CH" dirty="0"/>
              <a:t> course.</a:t>
            </a:r>
          </a:p>
          <a:p>
            <a:pPr marL="0" indent="0">
              <a:buNone/>
            </a:pPr>
            <a:endParaRPr lang="fr-CH" dirty="0"/>
          </a:p>
          <a:p>
            <a:pPr marL="0" indent="0">
              <a:buNone/>
            </a:pPr>
            <a:r>
              <a:rPr lang="fr-CH" dirty="0"/>
              <a:t>H</a:t>
            </a:r>
            <a:r>
              <a:rPr lang="fr-CH" baseline="-25000" dirty="0"/>
              <a:t>0</a:t>
            </a:r>
            <a:r>
              <a:rPr lang="fr-CH" dirty="0"/>
              <a:t>: There </a:t>
            </a:r>
            <a:r>
              <a:rPr lang="fr-CH" dirty="0" err="1"/>
              <a:t>is</a:t>
            </a:r>
            <a:r>
              <a:rPr lang="fr-CH" dirty="0"/>
              <a:t> no </a:t>
            </a:r>
            <a:r>
              <a:rPr lang="fr-CH" dirty="0" err="1"/>
              <a:t>statistically</a:t>
            </a:r>
            <a:r>
              <a:rPr lang="fr-CH" dirty="0"/>
              <a:t> </a:t>
            </a:r>
            <a:r>
              <a:rPr lang="fr-CH" dirty="0" err="1"/>
              <a:t>significant</a:t>
            </a:r>
            <a:r>
              <a:rPr lang="fr-CH" dirty="0"/>
              <a:t> </a:t>
            </a:r>
            <a:r>
              <a:rPr lang="fr-CH" dirty="0" err="1"/>
              <a:t>difference</a:t>
            </a:r>
            <a:r>
              <a:rPr lang="fr-CH" dirty="0"/>
              <a:t> </a:t>
            </a:r>
            <a:r>
              <a:rPr lang="fr-CH" dirty="0" err="1"/>
              <a:t>between</a:t>
            </a:r>
            <a:r>
              <a:rPr lang="fr-CH" dirty="0"/>
              <a:t> the grades of class A and class B.</a:t>
            </a:r>
          </a:p>
          <a:p>
            <a:pPr marL="0" indent="0">
              <a:buNone/>
            </a:pPr>
            <a:r>
              <a:rPr lang="fr-CH" dirty="0"/>
              <a:t>H</a:t>
            </a:r>
            <a:r>
              <a:rPr lang="fr-CH" baseline="-25000" dirty="0"/>
              <a:t>1</a:t>
            </a:r>
            <a:r>
              <a:rPr lang="fr-CH" dirty="0"/>
              <a:t>: There </a:t>
            </a:r>
            <a:r>
              <a:rPr lang="fr-CH" dirty="0" err="1"/>
              <a:t>is</a:t>
            </a:r>
            <a:r>
              <a:rPr lang="fr-CH" dirty="0"/>
              <a:t> </a:t>
            </a:r>
            <a:r>
              <a:rPr lang="fr-CH" dirty="0" err="1"/>
              <a:t>statistically</a:t>
            </a:r>
            <a:r>
              <a:rPr lang="fr-CH" dirty="0"/>
              <a:t> </a:t>
            </a:r>
            <a:r>
              <a:rPr lang="fr-CH" dirty="0" err="1"/>
              <a:t>significant</a:t>
            </a:r>
            <a:r>
              <a:rPr lang="fr-CH" dirty="0"/>
              <a:t> </a:t>
            </a:r>
            <a:r>
              <a:rPr lang="fr-CH" dirty="0" err="1"/>
              <a:t>difference</a:t>
            </a:r>
            <a:r>
              <a:rPr lang="fr-CH" dirty="0"/>
              <a:t> </a:t>
            </a:r>
            <a:r>
              <a:rPr lang="fr-CH" dirty="0" err="1"/>
              <a:t>between</a:t>
            </a:r>
            <a:r>
              <a:rPr lang="fr-CH" dirty="0"/>
              <a:t> the grades of class A and class B</a:t>
            </a:r>
          </a:p>
        </p:txBody>
      </p:sp>
    </p:spTree>
    <p:extLst>
      <p:ext uri="{BB962C8B-B14F-4D97-AF65-F5344CB8AC3E}">
        <p14:creationId xmlns:p14="http://schemas.microsoft.com/office/powerpoint/2010/main" val="1447592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D3C6787-1E04-AD6E-CED8-582104B17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Process</a:t>
            </a:r>
          </a:p>
        </p:txBody>
      </p:sp>
      <p:graphicFrame>
        <p:nvGraphicFramePr>
          <p:cNvPr id="6" name="Diagramme 5">
            <a:extLst>
              <a:ext uri="{FF2B5EF4-FFF2-40B4-BE49-F238E27FC236}">
                <a16:creationId xmlns:a16="http://schemas.microsoft.com/office/drawing/2014/main" id="{4EE6630B-A0F6-8AC2-7C18-8411AB63DB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40117118"/>
              </p:ext>
            </p:extLst>
          </p:nvPr>
        </p:nvGraphicFramePr>
        <p:xfrm>
          <a:off x="838200" y="1690688"/>
          <a:ext cx="10254521" cy="40696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05895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A27FAB-9003-3DF1-247F-48A6240B8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Example </a:t>
            </a:r>
            <a:r>
              <a:rPr lang="fr-CH" dirty="0" err="1"/>
              <a:t>with</a:t>
            </a:r>
            <a:r>
              <a:rPr lang="fr-CH" dirty="0"/>
              <a:t> data</a:t>
            </a:r>
          </a:p>
        </p:txBody>
      </p:sp>
      <p:graphicFrame>
        <p:nvGraphicFramePr>
          <p:cNvPr id="6" name="Diagramme 5">
            <a:extLst>
              <a:ext uri="{FF2B5EF4-FFF2-40B4-BE49-F238E27FC236}">
                <a16:creationId xmlns:a16="http://schemas.microsoft.com/office/drawing/2014/main" id="{E70DF4DE-544E-8A09-B1E5-2960932E35E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34187143"/>
              </p:ext>
            </p:extLst>
          </p:nvPr>
        </p:nvGraphicFramePr>
        <p:xfrm>
          <a:off x="838200" y="1750648"/>
          <a:ext cx="2579557" cy="40696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1" name="Image 10" descr="Une image contenant texte, Tracé, lign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58D8A2F5-5C24-28CC-9834-B302D58F40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56661" y="2473420"/>
            <a:ext cx="3587330" cy="2722218"/>
          </a:xfrm>
          <a:prstGeom prst="rect">
            <a:avLst/>
          </a:prstGeom>
        </p:spPr>
      </p:pic>
      <p:pic>
        <p:nvPicPr>
          <p:cNvPr id="13" name="Image 12" descr="Une image contenant Tracé, ligne, capture d’écran, diagramme&#10;&#10;Le contenu généré par l’IA peut être incorrect.">
            <a:extLst>
              <a:ext uri="{FF2B5EF4-FFF2-40B4-BE49-F238E27FC236}">
                <a16:creationId xmlns:a16="http://schemas.microsoft.com/office/drawing/2014/main" id="{7C24A676-CE48-5974-1519-22194D78469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51109" y="1331380"/>
            <a:ext cx="3211053" cy="2503149"/>
          </a:xfrm>
          <a:prstGeom prst="rect">
            <a:avLst/>
          </a:prstGeom>
        </p:spPr>
      </p:pic>
      <p:pic>
        <p:nvPicPr>
          <p:cNvPr id="15" name="Image 14" descr="Une image contenant capture d’écran, Tracé, ligne, texte&#10;&#10;Le contenu généré par l’IA peut être incorrect.">
            <a:extLst>
              <a:ext uri="{FF2B5EF4-FFF2-40B4-BE49-F238E27FC236}">
                <a16:creationId xmlns:a16="http://schemas.microsoft.com/office/drawing/2014/main" id="{A9A919DD-01C3-DD09-12EA-FAEC7F42E1F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51109" y="4037767"/>
            <a:ext cx="3211053" cy="2430903"/>
          </a:xfrm>
          <a:prstGeom prst="rect">
            <a:avLst/>
          </a:prstGeom>
        </p:spPr>
      </p:pic>
      <p:sp>
        <p:nvSpPr>
          <p:cNvPr id="16" name="Accolade ouvrante 15">
            <a:extLst>
              <a:ext uri="{FF2B5EF4-FFF2-40B4-BE49-F238E27FC236}">
                <a16:creationId xmlns:a16="http://schemas.microsoft.com/office/drawing/2014/main" id="{8BE364A6-8CA7-F916-EF6B-C519015F2A3F}"/>
              </a:ext>
            </a:extLst>
          </p:cNvPr>
          <p:cNvSpPr/>
          <p:nvPr/>
        </p:nvSpPr>
        <p:spPr>
          <a:xfrm>
            <a:off x="4257204" y="1376350"/>
            <a:ext cx="1064300" cy="4829578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804A4540-D9D3-A641-B5A8-3D58C5D33A05}"/>
              </a:ext>
            </a:extLst>
          </p:cNvPr>
          <p:cNvSpPr txBox="1"/>
          <p:nvPr/>
        </p:nvSpPr>
        <p:spPr>
          <a:xfrm>
            <a:off x="3447737" y="2287611"/>
            <a:ext cx="9743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/>
              <a:t>n</a:t>
            </a:r>
            <a:r>
              <a:rPr lang="fr-CH" baseline="-25000" dirty="0"/>
              <a:t>1</a:t>
            </a:r>
            <a:r>
              <a:rPr lang="fr-CH" dirty="0"/>
              <a:t> = 100</a:t>
            </a:r>
          </a:p>
          <a:p>
            <a:r>
              <a:rPr lang="fr-CH" dirty="0"/>
              <a:t>n</a:t>
            </a:r>
            <a:r>
              <a:rPr lang="fr-CH" baseline="-25000" dirty="0"/>
              <a:t>2</a:t>
            </a:r>
            <a:r>
              <a:rPr lang="fr-CH" dirty="0"/>
              <a:t> = 100</a:t>
            </a:r>
          </a:p>
        </p:txBody>
      </p:sp>
    </p:spTree>
    <p:extLst>
      <p:ext uri="{BB962C8B-B14F-4D97-AF65-F5344CB8AC3E}">
        <p14:creationId xmlns:p14="http://schemas.microsoft.com/office/powerpoint/2010/main" val="2906607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28E6E-1D8E-2A14-E35F-85565CCE9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0A3BFC-D418-49D1-EA40-008BDBB3C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Example </a:t>
            </a:r>
            <a:r>
              <a:rPr lang="fr-CH" dirty="0" err="1"/>
              <a:t>with</a:t>
            </a:r>
            <a:r>
              <a:rPr lang="fr-CH" dirty="0"/>
              <a:t> data</a:t>
            </a:r>
          </a:p>
        </p:txBody>
      </p:sp>
      <p:graphicFrame>
        <p:nvGraphicFramePr>
          <p:cNvPr id="6" name="Diagramme 5">
            <a:extLst>
              <a:ext uri="{FF2B5EF4-FFF2-40B4-BE49-F238E27FC236}">
                <a16:creationId xmlns:a16="http://schemas.microsoft.com/office/drawing/2014/main" id="{3ED5F8D6-581B-FC01-E14E-94122D61DF3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55196230"/>
              </p:ext>
            </p:extLst>
          </p:nvPr>
        </p:nvGraphicFramePr>
        <p:xfrm>
          <a:off x="838200" y="1465838"/>
          <a:ext cx="2579557" cy="40696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Image 3" descr="Une image contenant texte, Police, capture d’écran, typographie&#10;&#10;Le contenu généré par l’IA peut être incorrect.">
            <a:extLst>
              <a:ext uri="{FF2B5EF4-FFF2-40B4-BE49-F238E27FC236}">
                <a16:creationId xmlns:a16="http://schemas.microsoft.com/office/drawing/2014/main" id="{4BDF763A-8343-D70E-82CC-C338563116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28178" y="4444586"/>
            <a:ext cx="3657600" cy="457200"/>
          </a:xfrm>
          <a:prstGeom prst="rect">
            <a:avLst/>
          </a:prstGeom>
        </p:spPr>
      </p:pic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EC27D1F4-4910-0157-C99E-589BB8772D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6198" y="3204149"/>
            <a:ext cx="4131041" cy="27479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fr-CH" dirty="0"/>
          </a:p>
          <a:p>
            <a:pPr marL="0" indent="0">
              <a:buNone/>
            </a:pPr>
            <a:r>
              <a:rPr lang="fr-CH" sz="2000" dirty="0"/>
              <a:t>H</a:t>
            </a:r>
            <a:r>
              <a:rPr lang="fr-CH" sz="2000" baseline="-25000" dirty="0"/>
              <a:t>0</a:t>
            </a:r>
            <a:r>
              <a:rPr lang="fr-CH" sz="2000" dirty="0"/>
              <a:t>: There </a:t>
            </a:r>
            <a:r>
              <a:rPr lang="fr-CH" sz="2000" dirty="0" err="1"/>
              <a:t>is</a:t>
            </a:r>
            <a:r>
              <a:rPr lang="fr-CH" sz="2000" dirty="0"/>
              <a:t> no </a:t>
            </a:r>
            <a:r>
              <a:rPr lang="fr-CH" sz="2000" dirty="0" err="1"/>
              <a:t>statistically</a:t>
            </a:r>
            <a:r>
              <a:rPr lang="fr-CH" sz="2000" dirty="0"/>
              <a:t> </a:t>
            </a:r>
            <a:r>
              <a:rPr lang="fr-CH" sz="2000" dirty="0" err="1"/>
              <a:t>significant</a:t>
            </a:r>
            <a:r>
              <a:rPr lang="fr-CH" sz="2000" dirty="0"/>
              <a:t> </a:t>
            </a:r>
            <a:r>
              <a:rPr lang="fr-CH" sz="2000" dirty="0" err="1"/>
              <a:t>difference</a:t>
            </a:r>
            <a:r>
              <a:rPr lang="fr-CH" sz="2000" dirty="0"/>
              <a:t> </a:t>
            </a:r>
            <a:r>
              <a:rPr lang="fr-CH" sz="2000" dirty="0" err="1"/>
              <a:t>between</a:t>
            </a:r>
            <a:r>
              <a:rPr lang="fr-CH" sz="2000" dirty="0"/>
              <a:t> the grades of class A and class B.</a:t>
            </a:r>
          </a:p>
          <a:p>
            <a:pPr marL="0" indent="0">
              <a:buNone/>
            </a:pPr>
            <a:r>
              <a:rPr lang="fr-CH" sz="2000" dirty="0"/>
              <a:t>H</a:t>
            </a:r>
            <a:r>
              <a:rPr lang="fr-CH" sz="2000" baseline="-25000" dirty="0"/>
              <a:t>1</a:t>
            </a:r>
            <a:r>
              <a:rPr lang="fr-CH" sz="2000" dirty="0"/>
              <a:t>: There </a:t>
            </a:r>
            <a:r>
              <a:rPr lang="fr-CH" sz="2000" dirty="0" err="1"/>
              <a:t>is</a:t>
            </a:r>
            <a:r>
              <a:rPr lang="fr-CH" sz="2000" dirty="0"/>
              <a:t> </a:t>
            </a:r>
            <a:r>
              <a:rPr lang="fr-CH" sz="2000" dirty="0" err="1"/>
              <a:t>statistically</a:t>
            </a:r>
            <a:r>
              <a:rPr lang="fr-CH" sz="2000" dirty="0"/>
              <a:t> </a:t>
            </a:r>
            <a:r>
              <a:rPr lang="fr-CH" sz="2000" dirty="0" err="1"/>
              <a:t>significant</a:t>
            </a:r>
            <a:r>
              <a:rPr lang="fr-CH" sz="2000" dirty="0"/>
              <a:t> </a:t>
            </a:r>
            <a:r>
              <a:rPr lang="fr-CH" sz="2000" dirty="0" err="1"/>
              <a:t>difference</a:t>
            </a:r>
            <a:r>
              <a:rPr lang="fr-CH" sz="2000" dirty="0"/>
              <a:t> </a:t>
            </a:r>
            <a:r>
              <a:rPr lang="fr-CH" sz="2000" dirty="0" err="1"/>
              <a:t>between</a:t>
            </a:r>
            <a:r>
              <a:rPr lang="fr-CH" sz="2000" dirty="0"/>
              <a:t> the grades of class A and class B</a:t>
            </a:r>
          </a:p>
          <a:p>
            <a:pPr marL="0" indent="0">
              <a:buNone/>
            </a:pPr>
            <a:endParaRPr lang="fr-CH" sz="2000" dirty="0"/>
          </a:p>
          <a:p>
            <a:pPr marL="0" indent="0">
              <a:buNone/>
            </a:pPr>
            <a:r>
              <a:rPr lang="fr-CH" sz="2100" dirty="0"/>
              <a:t>P-value &lt; 0.05 </a:t>
            </a:r>
            <a:r>
              <a:rPr lang="fr-CH" sz="2100" dirty="0" err="1"/>
              <a:t>so</a:t>
            </a:r>
            <a:r>
              <a:rPr lang="fr-CH" sz="2100" dirty="0"/>
              <a:t> </a:t>
            </a:r>
            <a:r>
              <a:rPr lang="fr-CH" sz="2100" dirty="0" err="1"/>
              <a:t>we</a:t>
            </a:r>
            <a:r>
              <a:rPr lang="fr-CH" sz="2100" dirty="0"/>
              <a:t> can </a:t>
            </a:r>
            <a:r>
              <a:rPr lang="fr-CH" sz="2100" dirty="0" err="1"/>
              <a:t>reject</a:t>
            </a:r>
            <a:r>
              <a:rPr lang="fr-CH" sz="2100" dirty="0"/>
              <a:t> H</a:t>
            </a:r>
            <a:r>
              <a:rPr lang="fr-CH" sz="2100" baseline="-25000" dirty="0"/>
              <a:t>0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12D446-B490-DF13-57F6-6D337C8126E5}"/>
              </a:ext>
            </a:extLst>
          </p:cNvPr>
          <p:cNvSpPr/>
          <p:nvPr/>
        </p:nvSpPr>
        <p:spPr>
          <a:xfrm>
            <a:off x="7696198" y="5291528"/>
            <a:ext cx="4131041" cy="44970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694726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3AA8C8-EAAB-3682-ED8F-715D1FC64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Code in Python: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72AFF7B-8B7F-E774-3DB6-6F1EA6B2B2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2774430" cy="4919949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fr-CH" sz="3600" dirty="0"/>
              <a:t>import </a:t>
            </a:r>
            <a:r>
              <a:rPr lang="fr-CH" sz="3600" dirty="0" err="1"/>
              <a:t>numpy</a:t>
            </a:r>
            <a:r>
              <a:rPr lang="fr-CH" sz="3600" dirty="0"/>
              <a:t> as </a:t>
            </a:r>
            <a:r>
              <a:rPr lang="fr-CH" sz="3600" dirty="0" err="1"/>
              <a:t>np</a:t>
            </a:r>
            <a:endParaRPr lang="fr-CH" sz="3600" dirty="0"/>
          </a:p>
          <a:p>
            <a:pPr marL="0" indent="0">
              <a:buNone/>
            </a:pPr>
            <a:r>
              <a:rPr lang="fr-CH" sz="3600" dirty="0"/>
              <a:t>import </a:t>
            </a:r>
            <a:r>
              <a:rPr lang="fr-CH" sz="3600" dirty="0" err="1"/>
              <a:t>matplotlib.pyplot</a:t>
            </a:r>
            <a:r>
              <a:rPr lang="fr-CH" sz="3600" dirty="0"/>
              <a:t> as </a:t>
            </a:r>
            <a:r>
              <a:rPr lang="fr-CH" sz="3600" dirty="0" err="1"/>
              <a:t>plt</a:t>
            </a:r>
            <a:endParaRPr lang="fr-CH" sz="3600" dirty="0"/>
          </a:p>
          <a:p>
            <a:pPr marL="0" indent="0">
              <a:buNone/>
            </a:pPr>
            <a:r>
              <a:rPr lang="fr-CH" sz="3600" dirty="0" err="1"/>
              <a:t>from</a:t>
            </a:r>
            <a:r>
              <a:rPr lang="fr-CH" sz="3600" dirty="0"/>
              <a:t> </a:t>
            </a:r>
            <a:r>
              <a:rPr lang="fr-CH" sz="3600" dirty="0" err="1"/>
              <a:t>scipy.stats</a:t>
            </a:r>
            <a:r>
              <a:rPr lang="fr-CH" sz="3600" dirty="0"/>
              <a:t> import </a:t>
            </a:r>
            <a:r>
              <a:rPr lang="fr-CH" sz="3600" dirty="0" err="1"/>
              <a:t>truncnorm</a:t>
            </a:r>
            <a:r>
              <a:rPr lang="fr-CH" sz="3600" dirty="0"/>
              <a:t>, </a:t>
            </a:r>
            <a:r>
              <a:rPr lang="fr-CH" sz="3600" dirty="0" err="1"/>
              <a:t>ttest_ind</a:t>
            </a:r>
            <a:endParaRPr lang="fr-CH" sz="3600" dirty="0"/>
          </a:p>
          <a:p>
            <a:pPr marL="0" indent="0">
              <a:buNone/>
            </a:pPr>
            <a:r>
              <a:rPr lang="fr-CH" sz="3600" dirty="0"/>
              <a:t>import </a:t>
            </a:r>
            <a:r>
              <a:rPr lang="fr-CH" sz="3600" dirty="0" err="1"/>
              <a:t>statsmodels.api</a:t>
            </a:r>
            <a:r>
              <a:rPr lang="fr-CH" sz="3600" dirty="0"/>
              <a:t> as </a:t>
            </a:r>
            <a:r>
              <a:rPr lang="fr-CH" sz="3600" dirty="0" err="1"/>
              <a:t>sm</a:t>
            </a:r>
            <a:endParaRPr lang="fr-CH" sz="3600" dirty="0"/>
          </a:p>
          <a:p>
            <a:pPr marL="0" indent="0">
              <a:buNone/>
            </a:pPr>
            <a:endParaRPr lang="fr-CH" sz="3600" dirty="0"/>
          </a:p>
          <a:p>
            <a:pPr marL="0" indent="0">
              <a:buNone/>
            </a:pPr>
            <a:endParaRPr lang="fr-CH" sz="3600" dirty="0"/>
          </a:p>
          <a:p>
            <a:pPr marL="0" indent="0">
              <a:buNone/>
            </a:pPr>
            <a:r>
              <a:rPr lang="fr-CH" sz="3600" dirty="0"/>
              <a:t># --- </a:t>
            </a:r>
            <a:r>
              <a:rPr lang="fr-CH" sz="3600" dirty="0" err="1"/>
              <a:t>Function</a:t>
            </a:r>
            <a:r>
              <a:rPr lang="fr-CH" sz="3600" dirty="0"/>
              <a:t> to </a:t>
            </a:r>
            <a:r>
              <a:rPr lang="fr-CH" sz="3600" dirty="0" err="1"/>
              <a:t>generate</a:t>
            </a:r>
            <a:r>
              <a:rPr lang="fr-CH" sz="3600" dirty="0"/>
              <a:t> </a:t>
            </a:r>
            <a:r>
              <a:rPr lang="fr-CH" sz="3600" dirty="0" err="1"/>
              <a:t>truncated</a:t>
            </a:r>
            <a:r>
              <a:rPr lang="fr-CH" sz="3600" dirty="0"/>
              <a:t> normal </a:t>
            </a:r>
            <a:r>
              <a:rPr lang="fr-CH" sz="3600" dirty="0" err="1"/>
              <a:t>sample</a:t>
            </a:r>
            <a:r>
              <a:rPr lang="fr-CH" sz="3600" dirty="0"/>
              <a:t> ---</a:t>
            </a:r>
          </a:p>
          <a:p>
            <a:pPr marL="0" indent="0">
              <a:buNone/>
            </a:pPr>
            <a:r>
              <a:rPr lang="fr-CH" sz="3600" dirty="0" err="1"/>
              <a:t>def</a:t>
            </a:r>
            <a:r>
              <a:rPr lang="fr-CH" sz="3600" dirty="0"/>
              <a:t> </a:t>
            </a:r>
            <a:r>
              <a:rPr lang="fr-CH" sz="3600" dirty="0" err="1"/>
              <a:t>normal_tronquee</a:t>
            </a:r>
            <a:r>
              <a:rPr lang="fr-CH" sz="3600" dirty="0"/>
              <a:t>(n, mu, sigma, </a:t>
            </a:r>
            <a:r>
              <a:rPr lang="fr-CH" sz="3600" dirty="0" err="1"/>
              <a:t>min_val</a:t>
            </a:r>
            <a:r>
              <a:rPr lang="fr-CH" sz="3600" dirty="0"/>
              <a:t>, </a:t>
            </a:r>
            <a:r>
              <a:rPr lang="fr-CH" sz="3600" dirty="0" err="1"/>
              <a:t>max_val</a:t>
            </a:r>
            <a:r>
              <a:rPr lang="fr-CH" sz="3600" dirty="0"/>
              <a:t>):</a:t>
            </a:r>
          </a:p>
          <a:p>
            <a:pPr marL="0" indent="0">
              <a:buNone/>
            </a:pPr>
            <a:r>
              <a:rPr lang="fr-CH" sz="3600" dirty="0"/>
              <a:t>    a, b = (</a:t>
            </a:r>
            <a:r>
              <a:rPr lang="fr-CH" sz="3600" dirty="0" err="1"/>
              <a:t>min_val</a:t>
            </a:r>
            <a:r>
              <a:rPr lang="fr-CH" sz="3600" dirty="0"/>
              <a:t> - mu) / sigma, (</a:t>
            </a:r>
            <a:r>
              <a:rPr lang="fr-CH" sz="3600" dirty="0" err="1"/>
              <a:t>max_val</a:t>
            </a:r>
            <a:r>
              <a:rPr lang="fr-CH" sz="3600" dirty="0"/>
              <a:t> - mu) / sigma</a:t>
            </a:r>
          </a:p>
          <a:p>
            <a:pPr marL="0" indent="0">
              <a:buNone/>
            </a:pPr>
            <a:r>
              <a:rPr lang="fr-CH" sz="3600" dirty="0"/>
              <a:t>    return </a:t>
            </a:r>
            <a:r>
              <a:rPr lang="fr-CH" sz="3600" dirty="0" err="1"/>
              <a:t>truncnorm.rvs</a:t>
            </a:r>
            <a:r>
              <a:rPr lang="fr-CH" sz="3600" dirty="0"/>
              <a:t>(a, b, </a:t>
            </a:r>
            <a:r>
              <a:rPr lang="fr-CH" sz="3600" dirty="0" err="1"/>
              <a:t>loc</a:t>
            </a:r>
            <a:r>
              <a:rPr lang="fr-CH" sz="3600" dirty="0"/>
              <a:t>=mu, </a:t>
            </a:r>
            <a:r>
              <a:rPr lang="fr-CH" sz="3600" dirty="0" err="1"/>
              <a:t>scale</a:t>
            </a:r>
            <a:r>
              <a:rPr lang="fr-CH" sz="3600" dirty="0"/>
              <a:t>=sigma, size=n)</a:t>
            </a:r>
          </a:p>
          <a:p>
            <a:pPr marL="0" indent="0">
              <a:buNone/>
            </a:pPr>
            <a:endParaRPr lang="fr-CH" sz="3600" dirty="0"/>
          </a:p>
          <a:p>
            <a:pPr marL="0" indent="0">
              <a:buNone/>
            </a:pPr>
            <a:r>
              <a:rPr lang="fr-CH" sz="3600" dirty="0"/>
              <a:t># --- </a:t>
            </a:r>
            <a:r>
              <a:rPr lang="fr-CH" sz="3600" dirty="0" err="1"/>
              <a:t>Parameters</a:t>
            </a:r>
            <a:r>
              <a:rPr lang="fr-CH" sz="3600" dirty="0"/>
              <a:t> ---</a:t>
            </a:r>
          </a:p>
          <a:p>
            <a:pPr marL="0" indent="0">
              <a:buNone/>
            </a:pPr>
            <a:r>
              <a:rPr lang="fr-CH" sz="3600" dirty="0" err="1"/>
              <a:t>np.random.seed</a:t>
            </a:r>
            <a:r>
              <a:rPr lang="fr-CH" sz="3600" dirty="0"/>
              <a:t>(42)</a:t>
            </a:r>
          </a:p>
          <a:p>
            <a:pPr marL="0" indent="0">
              <a:buNone/>
            </a:pPr>
            <a:r>
              <a:rPr lang="fr-CH" sz="3600" dirty="0"/>
              <a:t>n = 100</a:t>
            </a:r>
          </a:p>
          <a:p>
            <a:pPr marL="0" indent="0">
              <a:buNone/>
            </a:pPr>
            <a:r>
              <a:rPr lang="fr-CH" sz="3600" dirty="0" err="1"/>
              <a:t>mu_A</a:t>
            </a:r>
            <a:r>
              <a:rPr lang="fr-CH" sz="3600" dirty="0"/>
              <a:t>, </a:t>
            </a:r>
            <a:r>
              <a:rPr lang="fr-CH" sz="3600" dirty="0" err="1"/>
              <a:t>sigma_A</a:t>
            </a:r>
            <a:r>
              <a:rPr lang="fr-CH" sz="3600" dirty="0"/>
              <a:t> = 3.0, 0.7   # </a:t>
            </a:r>
            <a:r>
              <a:rPr lang="fr-CH" sz="3600" dirty="0" err="1"/>
              <a:t>Sample</a:t>
            </a:r>
            <a:r>
              <a:rPr lang="fr-CH" sz="3600" dirty="0"/>
              <a:t> A : </a:t>
            </a:r>
            <a:r>
              <a:rPr lang="fr-CH" sz="3600" dirty="0" err="1"/>
              <a:t>mean</a:t>
            </a:r>
            <a:r>
              <a:rPr lang="fr-CH" sz="3600" dirty="0"/>
              <a:t>=3.5, </a:t>
            </a:r>
            <a:r>
              <a:rPr lang="fr-CH" sz="3600" dirty="0" err="1"/>
              <a:t>low</a:t>
            </a:r>
            <a:r>
              <a:rPr lang="fr-CH" sz="3600" dirty="0"/>
              <a:t> variance</a:t>
            </a:r>
          </a:p>
          <a:p>
            <a:pPr marL="0" indent="0">
              <a:buNone/>
            </a:pPr>
            <a:r>
              <a:rPr lang="fr-CH" sz="3600" dirty="0" err="1"/>
              <a:t>mu_B</a:t>
            </a:r>
            <a:r>
              <a:rPr lang="fr-CH" sz="3600" dirty="0"/>
              <a:t>, </a:t>
            </a:r>
            <a:r>
              <a:rPr lang="fr-CH" sz="3600" dirty="0" err="1"/>
              <a:t>sigma_B</a:t>
            </a:r>
            <a:r>
              <a:rPr lang="fr-CH" sz="3600" dirty="0"/>
              <a:t> = 4.5, 0.2   # </a:t>
            </a:r>
            <a:r>
              <a:rPr lang="fr-CH" sz="3600" dirty="0" err="1"/>
              <a:t>Sample</a:t>
            </a:r>
            <a:r>
              <a:rPr lang="fr-CH" sz="3600" dirty="0"/>
              <a:t> B : </a:t>
            </a:r>
            <a:r>
              <a:rPr lang="fr-CH" sz="3600" dirty="0" err="1"/>
              <a:t>mean</a:t>
            </a:r>
            <a:r>
              <a:rPr lang="fr-CH" sz="3600" dirty="0"/>
              <a:t>=4.5, </a:t>
            </a:r>
            <a:r>
              <a:rPr lang="fr-CH" sz="3600" dirty="0" err="1"/>
              <a:t>higher</a:t>
            </a:r>
            <a:r>
              <a:rPr lang="fr-CH" sz="3600" dirty="0"/>
              <a:t> variance</a:t>
            </a:r>
          </a:p>
          <a:p>
            <a:pPr marL="0" indent="0">
              <a:buNone/>
            </a:pPr>
            <a:r>
              <a:rPr lang="fr-CH" sz="3600" dirty="0" err="1"/>
              <a:t>min_val</a:t>
            </a:r>
            <a:r>
              <a:rPr lang="fr-CH" sz="3600" dirty="0"/>
              <a:t>, </a:t>
            </a:r>
            <a:r>
              <a:rPr lang="fr-CH" sz="3600" dirty="0" err="1"/>
              <a:t>max_val</a:t>
            </a:r>
            <a:r>
              <a:rPr lang="fr-CH" sz="3600" dirty="0"/>
              <a:t> = 1, 6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34BC27C-F845-964B-513F-6B6EDBF7AA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612630" y="1825625"/>
            <a:ext cx="3406515" cy="4919948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fr-CH" sz="3600" dirty="0"/>
              <a:t># --- </a:t>
            </a:r>
            <a:r>
              <a:rPr lang="fr-CH" sz="3600" dirty="0" err="1"/>
              <a:t>Generate</a:t>
            </a:r>
            <a:r>
              <a:rPr lang="fr-CH" sz="3600" dirty="0"/>
              <a:t> </a:t>
            </a:r>
            <a:r>
              <a:rPr lang="fr-CH" sz="3600" dirty="0" err="1"/>
              <a:t>samples</a:t>
            </a:r>
            <a:r>
              <a:rPr lang="fr-CH" sz="3600" dirty="0"/>
              <a:t> ---</a:t>
            </a:r>
          </a:p>
          <a:p>
            <a:pPr marL="0" indent="0">
              <a:buNone/>
            </a:pPr>
            <a:r>
              <a:rPr lang="fr-CH" sz="3600" dirty="0" err="1"/>
              <a:t>notes_A</a:t>
            </a:r>
            <a:r>
              <a:rPr lang="fr-CH" sz="3600" dirty="0"/>
              <a:t> = </a:t>
            </a:r>
            <a:r>
              <a:rPr lang="fr-CH" sz="3600" dirty="0" err="1"/>
              <a:t>normal_tronquee</a:t>
            </a:r>
            <a:r>
              <a:rPr lang="fr-CH" sz="3600" dirty="0"/>
              <a:t>(n, </a:t>
            </a:r>
            <a:r>
              <a:rPr lang="fr-CH" sz="3600" dirty="0" err="1"/>
              <a:t>mu_A</a:t>
            </a:r>
            <a:r>
              <a:rPr lang="fr-CH" sz="3600" dirty="0"/>
              <a:t>, </a:t>
            </a:r>
            <a:r>
              <a:rPr lang="fr-CH" sz="3600" dirty="0" err="1"/>
              <a:t>sigma_A</a:t>
            </a:r>
            <a:r>
              <a:rPr lang="fr-CH" sz="3600" dirty="0"/>
              <a:t>, </a:t>
            </a:r>
            <a:r>
              <a:rPr lang="fr-CH" sz="3600" dirty="0" err="1"/>
              <a:t>min_val</a:t>
            </a:r>
            <a:r>
              <a:rPr lang="fr-CH" sz="3600" dirty="0"/>
              <a:t>, </a:t>
            </a:r>
            <a:r>
              <a:rPr lang="fr-CH" sz="3600" dirty="0" err="1"/>
              <a:t>max_val</a:t>
            </a:r>
            <a:r>
              <a:rPr lang="fr-CH" sz="3600" dirty="0"/>
              <a:t>)</a:t>
            </a:r>
          </a:p>
          <a:p>
            <a:pPr marL="0" indent="0">
              <a:buNone/>
            </a:pPr>
            <a:r>
              <a:rPr lang="fr-CH" sz="3600" dirty="0" err="1"/>
              <a:t>notes_B</a:t>
            </a:r>
            <a:r>
              <a:rPr lang="fr-CH" sz="3600" dirty="0"/>
              <a:t> = </a:t>
            </a:r>
            <a:r>
              <a:rPr lang="fr-CH" sz="3600" dirty="0" err="1"/>
              <a:t>normal_tronquee</a:t>
            </a:r>
            <a:r>
              <a:rPr lang="fr-CH" sz="3600" dirty="0"/>
              <a:t>(n, </a:t>
            </a:r>
            <a:r>
              <a:rPr lang="fr-CH" sz="3600" dirty="0" err="1"/>
              <a:t>mu_B</a:t>
            </a:r>
            <a:r>
              <a:rPr lang="fr-CH" sz="3600" dirty="0"/>
              <a:t>, </a:t>
            </a:r>
            <a:r>
              <a:rPr lang="fr-CH" sz="3600" dirty="0" err="1"/>
              <a:t>sigma_B</a:t>
            </a:r>
            <a:r>
              <a:rPr lang="fr-CH" sz="3600" dirty="0"/>
              <a:t>, </a:t>
            </a:r>
            <a:r>
              <a:rPr lang="fr-CH" sz="3600" dirty="0" err="1"/>
              <a:t>min_val</a:t>
            </a:r>
            <a:r>
              <a:rPr lang="fr-CH" sz="3600" dirty="0"/>
              <a:t>, </a:t>
            </a:r>
            <a:r>
              <a:rPr lang="fr-CH" sz="3600" dirty="0" err="1"/>
              <a:t>max_val</a:t>
            </a:r>
            <a:r>
              <a:rPr lang="fr-CH" sz="3600" dirty="0"/>
              <a:t>)</a:t>
            </a:r>
          </a:p>
          <a:p>
            <a:pPr marL="0" indent="0">
              <a:buNone/>
            </a:pPr>
            <a:endParaRPr lang="fr-CH" sz="3600" dirty="0"/>
          </a:p>
          <a:p>
            <a:pPr marL="0" indent="0">
              <a:buNone/>
            </a:pPr>
            <a:r>
              <a:rPr lang="fr-CH" sz="3600" dirty="0" err="1"/>
              <a:t>print</a:t>
            </a:r>
            <a:r>
              <a:rPr lang="fr-CH" sz="3600" dirty="0"/>
              <a:t>("</a:t>
            </a:r>
            <a:r>
              <a:rPr lang="fr-CH" sz="3600" dirty="0" err="1"/>
              <a:t>Sample</a:t>
            </a:r>
            <a:r>
              <a:rPr lang="fr-CH" sz="3600" dirty="0"/>
              <a:t> A: </a:t>
            </a:r>
            <a:r>
              <a:rPr lang="fr-CH" sz="3600" dirty="0" err="1"/>
              <a:t>mean</a:t>
            </a:r>
            <a:r>
              <a:rPr lang="fr-CH" sz="3600" dirty="0"/>
              <a:t> =", </a:t>
            </a:r>
            <a:r>
              <a:rPr lang="fr-CH" sz="3600" dirty="0" err="1"/>
              <a:t>notes_A.mean</a:t>
            </a:r>
            <a:r>
              <a:rPr lang="fr-CH" sz="3600" dirty="0"/>
              <a:t>(), "var =", </a:t>
            </a:r>
            <a:r>
              <a:rPr lang="fr-CH" sz="3600" dirty="0" err="1"/>
              <a:t>notes_A.var</a:t>
            </a:r>
            <a:r>
              <a:rPr lang="fr-CH" sz="3600" dirty="0"/>
              <a:t>(</a:t>
            </a:r>
            <a:r>
              <a:rPr lang="fr-CH" sz="3600" dirty="0" err="1"/>
              <a:t>ddof</a:t>
            </a:r>
            <a:r>
              <a:rPr lang="fr-CH" sz="3600" dirty="0"/>
              <a:t>=1))</a:t>
            </a:r>
          </a:p>
          <a:p>
            <a:pPr marL="0" indent="0">
              <a:buNone/>
            </a:pPr>
            <a:r>
              <a:rPr lang="fr-CH" sz="3600" dirty="0" err="1"/>
              <a:t>print</a:t>
            </a:r>
            <a:r>
              <a:rPr lang="fr-CH" sz="3600" dirty="0"/>
              <a:t>("</a:t>
            </a:r>
            <a:r>
              <a:rPr lang="fr-CH" sz="3600" dirty="0" err="1"/>
              <a:t>Sample</a:t>
            </a:r>
            <a:r>
              <a:rPr lang="fr-CH" sz="3600" dirty="0"/>
              <a:t> B: </a:t>
            </a:r>
            <a:r>
              <a:rPr lang="fr-CH" sz="3600" dirty="0" err="1"/>
              <a:t>mean</a:t>
            </a:r>
            <a:r>
              <a:rPr lang="fr-CH" sz="3600" dirty="0"/>
              <a:t> =", </a:t>
            </a:r>
            <a:r>
              <a:rPr lang="fr-CH" sz="3600" dirty="0" err="1"/>
              <a:t>notes_B.mean</a:t>
            </a:r>
            <a:r>
              <a:rPr lang="fr-CH" sz="3600" dirty="0"/>
              <a:t>(), "var =", </a:t>
            </a:r>
            <a:r>
              <a:rPr lang="fr-CH" sz="3600" dirty="0" err="1"/>
              <a:t>notes_B.var</a:t>
            </a:r>
            <a:r>
              <a:rPr lang="fr-CH" sz="3600" dirty="0"/>
              <a:t>(</a:t>
            </a:r>
            <a:r>
              <a:rPr lang="fr-CH" sz="3600" dirty="0" err="1"/>
              <a:t>ddof</a:t>
            </a:r>
            <a:r>
              <a:rPr lang="fr-CH" sz="3600" dirty="0"/>
              <a:t>=1))</a:t>
            </a:r>
          </a:p>
          <a:p>
            <a:pPr marL="0" indent="0">
              <a:buNone/>
            </a:pPr>
            <a:endParaRPr lang="fr-CH" sz="3600" dirty="0"/>
          </a:p>
          <a:p>
            <a:pPr marL="0" indent="0">
              <a:buNone/>
            </a:pPr>
            <a:r>
              <a:rPr lang="fr-CH" sz="3600" dirty="0"/>
              <a:t># --- PDF Plot ---</a:t>
            </a:r>
          </a:p>
          <a:p>
            <a:pPr marL="0" indent="0">
              <a:buNone/>
            </a:pPr>
            <a:r>
              <a:rPr lang="fr-CH" sz="3600" dirty="0"/>
              <a:t>x = </a:t>
            </a:r>
            <a:r>
              <a:rPr lang="fr-CH" sz="3600" dirty="0" err="1"/>
              <a:t>np.linspace</a:t>
            </a:r>
            <a:r>
              <a:rPr lang="fr-CH" sz="3600" dirty="0"/>
              <a:t>(</a:t>
            </a:r>
            <a:r>
              <a:rPr lang="fr-CH" sz="3600" dirty="0" err="1"/>
              <a:t>min_val</a:t>
            </a:r>
            <a:r>
              <a:rPr lang="fr-CH" sz="3600" dirty="0"/>
              <a:t>, </a:t>
            </a:r>
            <a:r>
              <a:rPr lang="fr-CH" sz="3600" dirty="0" err="1"/>
              <a:t>max_val</a:t>
            </a:r>
            <a:r>
              <a:rPr lang="fr-CH" sz="3600" dirty="0"/>
              <a:t>, 300)</a:t>
            </a:r>
          </a:p>
          <a:p>
            <a:pPr marL="0" indent="0">
              <a:buNone/>
            </a:pPr>
            <a:r>
              <a:rPr lang="fr-CH" sz="3600" dirty="0" err="1"/>
              <a:t>pdf_A</a:t>
            </a:r>
            <a:r>
              <a:rPr lang="fr-CH" sz="3600" dirty="0"/>
              <a:t> = </a:t>
            </a:r>
            <a:r>
              <a:rPr lang="fr-CH" sz="3600" dirty="0" err="1"/>
              <a:t>truncnorm.pdf</a:t>
            </a:r>
            <a:r>
              <a:rPr lang="fr-CH" sz="3600" dirty="0"/>
              <a:t>(x, (</a:t>
            </a:r>
            <a:r>
              <a:rPr lang="fr-CH" sz="3600" dirty="0" err="1"/>
              <a:t>min_val-mu_A</a:t>
            </a:r>
            <a:r>
              <a:rPr lang="fr-CH" sz="3600" dirty="0"/>
              <a:t>)/</a:t>
            </a:r>
            <a:r>
              <a:rPr lang="fr-CH" sz="3600" dirty="0" err="1"/>
              <a:t>sigma_A</a:t>
            </a:r>
            <a:r>
              <a:rPr lang="fr-CH" sz="3600" dirty="0"/>
              <a:t>, (</a:t>
            </a:r>
            <a:r>
              <a:rPr lang="fr-CH" sz="3600" dirty="0" err="1"/>
              <a:t>max_val-mu_A</a:t>
            </a:r>
            <a:r>
              <a:rPr lang="fr-CH" sz="3600" dirty="0"/>
              <a:t>)/</a:t>
            </a:r>
            <a:r>
              <a:rPr lang="fr-CH" sz="3600" dirty="0" err="1"/>
              <a:t>sigma_A</a:t>
            </a:r>
            <a:r>
              <a:rPr lang="fr-CH" sz="3600" dirty="0"/>
              <a:t>, </a:t>
            </a:r>
            <a:r>
              <a:rPr lang="fr-CH" sz="3600" dirty="0" err="1"/>
              <a:t>loc</a:t>
            </a:r>
            <a:r>
              <a:rPr lang="fr-CH" sz="3600" dirty="0"/>
              <a:t>=</a:t>
            </a:r>
            <a:r>
              <a:rPr lang="fr-CH" sz="3600" dirty="0" err="1"/>
              <a:t>mu_A</a:t>
            </a:r>
            <a:r>
              <a:rPr lang="fr-CH" sz="3600" dirty="0"/>
              <a:t>, </a:t>
            </a:r>
            <a:r>
              <a:rPr lang="fr-CH" sz="3600" dirty="0" err="1"/>
              <a:t>scale</a:t>
            </a:r>
            <a:r>
              <a:rPr lang="fr-CH" sz="3600" dirty="0"/>
              <a:t>=</a:t>
            </a:r>
            <a:r>
              <a:rPr lang="fr-CH" sz="3600" dirty="0" err="1"/>
              <a:t>sigma_A</a:t>
            </a:r>
            <a:r>
              <a:rPr lang="fr-CH" sz="3600" dirty="0"/>
              <a:t>)</a:t>
            </a:r>
          </a:p>
          <a:p>
            <a:pPr marL="0" indent="0">
              <a:buNone/>
            </a:pPr>
            <a:r>
              <a:rPr lang="fr-CH" sz="3600" dirty="0" err="1"/>
              <a:t>pdf_B</a:t>
            </a:r>
            <a:r>
              <a:rPr lang="fr-CH" sz="3600" dirty="0"/>
              <a:t> = </a:t>
            </a:r>
            <a:r>
              <a:rPr lang="fr-CH" sz="3600" dirty="0" err="1"/>
              <a:t>truncnorm.pdf</a:t>
            </a:r>
            <a:r>
              <a:rPr lang="fr-CH" sz="3600" dirty="0"/>
              <a:t>(x, (</a:t>
            </a:r>
            <a:r>
              <a:rPr lang="fr-CH" sz="3600" dirty="0" err="1"/>
              <a:t>min_val-mu_B</a:t>
            </a:r>
            <a:r>
              <a:rPr lang="fr-CH" sz="3600" dirty="0"/>
              <a:t>)/</a:t>
            </a:r>
            <a:r>
              <a:rPr lang="fr-CH" sz="3600" dirty="0" err="1"/>
              <a:t>sigma_B</a:t>
            </a:r>
            <a:r>
              <a:rPr lang="fr-CH" sz="3600" dirty="0"/>
              <a:t>, (</a:t>
            </a:r>
            <a:r>
              <a:rPr lang="fr-CH" sz="3600" dirty="0" err="1"/>
              <a:t>max_val-mu_B</a:t>
            </a:r>
            <a:r>
              <a:rPr lang="fr-CH" sz="3600" dirty="0"/>
              <a:t>)/</a:t>
            </a:r>
            <a:r>
              <a:rPr lang="fr-CH" sz="3600" dirty="0" err="1"/>
              <a:t>sigma_B</a:t>
            </a:r>
            <a:r>
              <a:rPr lang="fr-CH" sz="3600" dirty="0"/>
              <a:t>, </a:t>
            </a:r>
            <a:r>
              <a:rPr lang="fr-CH" sz="3600" dirty="0" err="1"/>
              <a:t>loc</a:t>
            </a:r>
            <a:r>
              <a:rPr lang="fr-CH" sz="3600" dirty="0"/>
              <a:t>=</a:t>
            </a:r>
            <a:r>
              <a:rPr lang="fr-CH" sz="3600" dirty="0" err="1"/>
              <a:t>mu_B</a:t>
            </a:r>
            <a:r>
              <a:rPr lang="fr-CH" sz="3600" dirty="0"/>
              <a:t>, </a:t>
            </a:r>
            <a:r>
              <a:rPr lang="fr-CH" sz="3600" dirty="0" err="1"/>
              <a:t>scale</a:t>
            </a:r>
            <a:r>
              <a:rPr lang="fr-CH" sz="3600" dirty="0"/>
              <a:t>=</a:t>
            </a:r>
            <a:r>
              <a:rPr lang="fr-CH" sz="3600" dirty="0" err="1"/>
              <a:t>sigma_B</a:t>
            </a:r>
            <a:r>
              <a:rPr lang="fr-CH" sz="3600" dirty="0"/>
              <a:t>)</a:t>
            </a:r>
          </a:p>
          <a:p>
            <a:pPr marL="0" indent="0">
              <a:buNone/>
            </a:pPr>
            <a:endParaRPr lang="fr-CH" sz="3600" dirty="0"/>
          </a:p>
          <a:p>
            <a:pPr marL="0" indent="0">
              <a:buNone/>
            </a:pPr>
            <a:r>
              <a:rPr lang="fr-CH" sz="3600" dirty="0" err="1"/>
              <a:t>plt.figure</a:t>
            </a:r>
            <a:r>
              <a:rPr lang="fr-CH" sz="3600" dirty="0"/>
              <a:t>(</a:t>
            </a:r>
            <a:r>
              <a:rPr lang="fr-CH" sz="3600" dirty="0" err="1"/>
              <a:t>figsize</a:t>
            </a:r>
            <a:r>
              <a:rPr lang="fr-CH" sz="3600" dirty="0"/>
              <a:t>=(7,5))</a:t>
            </a:r>
          </a:p>
          <a:p>
            <a:pPr marL="0" indent="0">
              <a:buNone/>
            </a:pPr>
            <a:r>
              <a:rPr lang="fr-CH" sz="3600" dirty="0" err="1"/>
              <a:t>plt.plot</a:t>
            </a:r>
            <a:r>
              <a:rPr lang="fr-CH" sz="3600" dirty="0"/>
              <a:t>(x, </a:t>
            </a:r>
            <a:r>
              <a:rPr lang="fr-CH" sz="3600" dirty="0" err="1"/>
              <a:t>pdf_A</a:t>
            </a:r>
            <a:r>
              <a:rPr lang="fr-CH" sz="3600" dirty="0"/>
              <a:t>, label=</a:t>
            </a:r>
            <a:r>
              <a:rPr lang="fr-CH" sz="3600" dirty="0" err="1"/>
              <a:t>f"Sample</a:t>
            </a:r>
            <a:r>
              <a:rPr lang="fr-CH" sz="3600" dirty="0"/>
              <a:t> A (</a:t>
            </a:r>
            <a:r>
              <a:rPr lang="el-GR" sz="3600" dirty="0"/>
              <a:t>μ={</a:t>
            </a:r>
            <a:r>
              <a:rPr lang="fr-CH" sz="3600" dirty="0" err="1"/>
              <a:t>mu_A</a:t>
            </a:r>
            <a:r>
              <a:rPr lang="fr-CH" sz="3600" dirty="0"/>
              <a:t>}, </a:t>
            </a:r>
            <a:r>
              <a:rPr lang="el-GR" sz="3600" dirty="0"/>
              <a:t>σ={</a:t>
            </a:r>
            <a:r>
              <a:rPr lang="fr-CH" sz="3600" dirty="0" err="1"/>
              <a:t>sigma_A</a:t>
            </a:r>
            <a:r>
              <a:rPr lang="fr-CH" sz="3600" dirty="0"/>
              <a:t>})", </a:t>
            </a:r>
            <a:r>
              <a:rPr lang="fr-CH" sz="3600" dirty="0" err="1"/>
              <a:t>color</a:t>
            </a:r>
            <a:r>
              <a:rPr lang="fr-CH" sz="3600" dirty="0"/>
              <a:t>="</a:t>
            </a:r>
            <a:r>
              <a:rPr lang="fr-CH" sz="3600" dirty="0" err="1"/>
              <a:t>blue</a:t>
            </a:r>
            <a:r>
              <a:rPr lang="fr-CH" sz="3600" dirty="0"/>
              <a:t>")</a:t>
            </a:r>
          </a:p>
          <a:p>
            <a:pPr marL="0" indent="0">
              <a:buNone/>
            </a:pPr>
            <a:r>
              <a:rPr lang="fr-CH" sz="3600" dirty="0" err="1"/>
              <a:t>plt.plot</a:t>
            </a:r>
            <a:r>
              <a:rPr lang="fr-CH" sz="3600" dirty="0"/>
              <a:t>(x, </a:t>
            </a:r>
            <a:r>
              <a:rPr lang="fr-CH" sz="3600" dirty="0" err="1"/>
              <a:t>pdf_B</a:t>
            </a:r>
            <a:r>
              <a:rPr lang="fr-CH" sz="3600" dirty="0"/>
              <a:t>, label=</a:t>
            </a:r>
            <a:r>
              <a:rPr lang="fr-CH" sz="3600" dirty="0" err="1"/>
              <a:t>f"Sample</a:t>
            </a:r>
            <a:r>
              <a:rPr lang="fr-CH" sz="3600" dirty="0"/>
              <a:t> B (</a:t>
            </a:r>
            <a:r>
              <a:rPr lang="el-GR" sz="3600" dirty="0"/>
              <a:t>μ={</a:t>
            </a:r>
            <a:r>
              <a:rPr lang="fr-CH" sz="3600" dirty="0" err="1"/>
              <a:t>mu_B</a:t>
            </a:r>
            <a:r>
              <a:rPr lang="fr-CH" sz="3600" dirty="0"/>
              <a:t>}, </a:t>
            </a:r>
            <a:r>
              <a:rPr lang="el-GR" sz="3600" dirty="0"/>
              <a:t>σ={</a:t>
            </a:r>
            <a:r>
              <a:rPr lang="fr-CH" sz="3600" dirty="0" err="1"/>
              <a:t>sigma_B</a:t>
            </a:r>
            <a:r>
              <a:rPr lang="fr-CH" sz="3600" dirty="0"/>
              <a:t>})", </a:t>
            </a:r>
            <a:r>
              <a:rPr lang="fr-CH" sz="3600" dirty="0" err="1"/>
              <a:t>color</a:t>
            </a:r>
            <a:r>
              <a:rPr lang="fr-CH" sz="3600" dirty="0"/>
              <a:t>="</a:t>
            </a:r>
            <a:r>
              <a:rPr lang="fr-CH" sz="3600" dirty="0" err="1"/>
              <a:t>red</a:t>
            </a:r>
            <a:r>
              <a:rPr lang="fr-CH" sz="3600" dirty="0"/>
              <a:t>")</a:t>
            </a:r>
          </a:p>
          <a:p>
            <a:pPr marL="0" indent="0">
              <a:buNone/>
            </a:pPr>
            <a:r>
              <a:rPr lang="fr-CH" sz="3600" dirty="0" err="1"/>
              <a:t>plt.title</a:t>
            </a:r>
            <a:r>
              <a:rPr lang="fr-CH" sz="3600" dirty="0"/>
              <a:t>("PDF of </a:t>
            </a:r>
            <a:r>
              <a:rPr lang="fr-CH" sz="3600" dirty="0" err="1"/>
              <a:t>Truncated</a:t>
            </a:r>
            <a:r>
              <a:rPr lang="fr-CH" sz="3600" dirty="0"/>
              <a:t> Normal Distributions (1–6)")</a:t>
            </a:r>
          </a:p>
        </p:txBody>
      </p:sp>
      <p:sp>
        <p:nvSpPr>
          <p:cNvPr id="5" name="Espace réservé du contenu 3">
            <a:extLst>
              <a:ext uri="{FF2B5EF4-FFF2-40B4-BE49-F238E27FC236}">
                <a16:creationId xmlns:a16="http://schemas.microsoft.com/office/drawing/2014/main" id="{A24110BB-3C24-8766-5779-1389C17913DF}"/>
              </a:ext>
            </a:extLst>
          </p:cNvPr>
          <p:cNvSpPr txBox="1">
            <a:spLocks/>
          </p:cNvSpPr>
          <p:nvPr/>
        </p:nvSpPr>
        <p:spPr>
          <a:xfrm>
            <a:off x="7947285" y="1825624"/>
            <a:ext cx="3406515" cy="49199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CH" sz="900" dirty="0" err="1"/>
              <a:t>plt.xlabel</a:t>
            </a:r>
            <a:r>
              <a:rPr lang="fr-CH" sz="900" dirty="0"/>
              <a:t>("Value")</a:t>
            </a:r>
          </a:p>
          <a:p>
            <a:pPr marL="0" indent="0">
              <a:buNone/>
            </a:pPr>
            <a:r>
              <a:rPr lang="fr-CH" sz="900" dirty="0" err="1"/>
              <a:t>plt.ylabel</a:t>
            </a:r>
            <a:r>
              <a:rPr lang="fr-CH" sz="900" dirty="0"/>
              <a:t>("Density")</a:t>
            </a:r>
          </a:p>
          <a:p>
            <a:pPr marL="0" indent="0">
              <a:buNone/>
            </a:pPr>
            <a:r>
              <a:rPr lang="fr-CH" sz="900" dirty="0" err="1"/>
              <a:t>plt.legend</a:t>
            </a:r>
            <a:r>
              <a:rPr lang="fr-CH" sz="900" dirty="0"/>
              <a:t>()</a:t>
            </a:r>
          </a:p>
          <a:p>
            <a:pPr marL="0" indent="0">
              <a:buNone/>
            </a:pPr>
            <a:r>
              <a:rPr lang="fr-CH" sz="900" dirty="0" err="1"/>
              <a:t>plt.grid</a:t>
            </a:r>
            <a:r>
              <a:rPr lang="fr-CH" sz="900" dirty="0"/>
              <a:t>(</a:t>
            </a:r>
            <a:r>
              <a:rPr lang="fr-CH" sz="900" dirty="0" err="1"/>
              <a:t>True</a:t>
            </a:r>
            <a:r>
              <a:rPr lang="fr-CH" sz="900" dirty="0"/>
              <a:t>, alpha=0.3)</a:t>
            </a:r>
          </a:p>
          <a:p>
            <a:pPr marL="0" indent="0">
              <a:buNone/>
            </a:pPr>
            <a:r>
              <a:rPr lang="fr-CH" sz="900" dirty="0" err="1"/>
              <a:t>plt.show</a:t>
            </a:r>
            <a:r>
              <a:rPr lang="fr-CH" sz="900" dirty="0"/>
              <a:t>()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fr-CH" sz="9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fr-CH" sz="900" dirty="0"/>
              <a:t># --- QQ-plot </a:t>
            </a:r>
            <a:r>
              <a:rPr lang="fr-CH" sz="900" dirty="0" err="1"/>
              <a:t>comparing</a:t>
            </a:r>
            <a:r>
              <a:rPr lang="fr-CH" sz="900" dirty="0"/>
              <a:t> the </a:t>
            </a:r>
            <a:r>
              <a:rPr lang="fr-CH" sz="900" dirty="0" err="1"/>
              <a:t>two</a:t>
            </a:r>
            <a:r>
              <a:rPr lang="fr-CH" sz="900" dirty="0"/>
              <a:t> </a:t>
            </a:r>
            <a:r>
              <a:rPr lang="fr-CH" sz="900" dirty="0" err="1"/>
              <a:t>samples</a:t>
            </a:r>
            <a:r>
              <a:rPr lang="fr-CH" sz="900" dirty="0"/>
              <a:t> ---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CH" sz="900" dirty="0" err="1"/>
              <a:t>plt.figure</a:t>
            </a:r>
            <a:r>
              <a:rPr lang="fr-CH" sz="900" dirty="0"/>
              <a:t>(</a:t>
            </a:r>
            <a:r>
              <a:rPr lang="fr-CH" sz="900" dirty="0" err="1"/>
              <a:t>figsize</a:t>
            </a:r>
            <a:r>
              <a:rPr lang="fr-CH" sz="900" dirty="0"/>
              <a:t>=(6,6))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CH" sz="900" dirty="0" err="1"/>
              <a:t>sorted_A</a:t>
            </a:r>
            <a:r>
              <a:rPr lang="fr-CH" sz="900" dirty="0"/>
              <a:t> = </a:t>
            </a:r>
            <a:r>
              <a:rPr lang="fr-CH" sz="900" dirty="0" err="1"/>
              <a:t>np.sort</a:t>
            </a:r>
            <a:r>
              <a:rPr lang="fr-CH" sz="900" dirty="0"/>
              <a:t>(</a:t>
            </a:r>
            <a:r>
              <a:rPr lang="fr-CH" sz="900" dirty="0" err="1"/>
              <a:t>notes_A</a:t>
            </a:r>
            <a:r>
              <a:rPr lang="fr-CH" sz="900" dirty="0"/>
              <a:t>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CH" sz="900" dirty="0" err="1"/>
              <a:t>sorted_B</a:t>
            </a:r>
            <a:r>
              <a:rPr lang="fr-CH" sz="900" dirty="0"/>
              <a:t> = </a:t>
            </a:r>
            <a:r>
              <a:rPr lang="fr-CH" sz="900" dirty="0" err="1"/>
              <a:t>np.sort</a:t>
            </a:r>
            <a:r>
              <a:rPr lang="fr-CH" sz="900" dirty="0"/>
              <a:t>(</a:t>
            </a:r>
            <a:r>
              <a:rPr lang="fr-CH" sz="900" dirty="0" err="1"/>
              <a:t>notes_B</a:t>
            </a:r>
            <a:r>
              <a:rPr lang="fr-CH" sz="900" dirty="0"/>
              <a:t>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CH" sz="900" dirty="0" err="1"/>
              <a:t>figA</a:t>
            </a:r>
            <a:r>
              <a:rPr lang="fr-CH" sz="900" dirty="0"/>
              <a:t>=</a:t>
            </a:r>
            <a:r>
              <a:rPr lang="fr-CH" sz="900" dirty="0" err="1"/>
              <a:t>sm.qqplot</a:t>
            </a:r>
            <a:r>
              <a:rPr lang="fr-CH" sz="900" dirty="0"/>
              <a:t>(</a:t>
            </a:r>
            <a:r>
              <a:rPr lang="fr-CH" sz="900" dirty="0" err="1"/>
              <a:t>sorted_A</a:t>
            </a:r>
            <a:r>
              <a:rPr lang="fr-CH" sz="900" dirty="0"/>
              <a:t>, line='s')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CH" sz="900" dirty="0" err="1"/>
              <a:t>figB</a:t>
            </a:r>
            <a:r>
              <a:rPr lang="fr-CH" sz="900" dirty="0"/>
              <a:t>=</a:t>
            </a:r>
            <a:r>
              <a:rPr lang="fr-CH" sz="900" dirty="0" err="1"/>
              <a:t>sm.qqplot</a:t>
            </a:r>
            <a:r>
              <a:rPr lang="fr-CH" sz="900" dirty="0"/>
              <a:t>(</a:t>
            </a:r>
            <a:r>
              <a:rPr lang="fr-CH" sz="900" dirty="0" err="1"/>
              <a:t>sorted_B</a:t>
            </a:r>
            <a:r>
              <a:rPr lang="fr-CH" sz="900" dirty="0"/>
              <a:t>, line='s')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fr-CH" sz="9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fr-CH" sz="900" dirty="0"/>
              <a:t># --- Welch </a:t>
            </a:r>
            <a:r>
              <a:rPr lang="fr-CH" sz="900" dirty="0" err="1"/>
              <a:t>t</a:t>
            </a:r>
            <a:r>
              <a:rPr lang="fr-CH" sz="900" dirty="0"/>
              <a:t>-test ---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CH" sz="900" dirty="0" err="1"/>
              <a:t>t_stat</a:t>
            </a:r>
            <a:r>
              <a:rPr lang="fr-CH" sz="900" dirty="0"/>
              <a:t>, </a:t>
            </a:r>
            <a:r>
              <a:rPr lang="fr-CH" sz="900" dirty="0" err="1"/>
              <a:t>p_val</a:t>
            </a:r>
            <a:r>
              <a:rPr lang="fr-CH" sz="900" dirty="0"/>
              <a:t> = </a:t>
            </a:r>
            <a:r>
              <a:rPr lang="fr-CH" sz="900" dirty="0" err="1"/>
              <a:t>ttest_ind</a:t>
            </a:r>
            <a:r>
              <a:rPr lang="fr-CH" sz="900" dirty="0"/>
              <a:t>(</a:t>
            </a:r>
            <a:r>
              <a:rPr lang="fr-CH" sz="900" dirty="0" err="1"/>
              <a:t>notes_A</a:t>
            </a:r>
            <a:r>
              <a:rPr lang="fr-CH" sz="900" dirty="0"/>
              <a:t>, </a:t>
            </a:r>
            <a:r>
              <a:rPr lang="fr-CH" sz="900" dirty="0" err="1"/>
              <a:t>notes_B</a:t>
            </a:r>
            <a:r>
              <a:rPr lang="fr-CH" sz="900" dirty="0"/>
              <a:t>, </a:t>
            </a:r>
            <a:r>
              <a:rPr lang="fr-CH" sz="900" dirty="0" err="1"/>
              <a:t>equal_var</a:t>
            </a:r>
            <a:r>
              <a:rPr lang="fr-CH" sz="900" dirty="0"/>
              <a:t>=False)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fr-CH" sz="9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fr-CH" sz="900" dirty="0" err="1"/>
              <a:t>print</a:t>
            </a:r>
            <a:r>
              <a:rPr lang="fr-CH" sz="900" dirty="0"/>
              <a:t>("</a:t>
            </a:r>
            <a:r>
              <a:rPr lang="fr-CH" sz="900" dirty="0" err="1"/>
              <a:t>t</a:t>
            </a:r>
            <a:r>
              <a:rPr lang="fr-CH" sz="900" dirty="0"/>
              <a:t>-statistique =", </a:t>
            </a:r>
            <a:r>
              <a:rPr lang="fr-CH" sz="900" dirty="0" err="1"/>
              <a:t>t_stat</a:t>
            </a:r>
            <a:r>
              <a:rPr lang="fr-CH" sz="900" dirty="0"/>
              <a:t>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CH" sz="900" dirty="0" err="1"/>
              <a:t>print</a:t>
            </a:r>
            <a:r>
              <a:rPr lang="fr-CH" sz="900" dirty="0"/>
              <a:t>("p-valeur =", </a:t>
            </a:r>
            <a:r>
              <a:rPr lang="fr-CH" sz="900" dirty="0" err="1"/>
              <a:t>p_val</a:t>
            </a:r>
            <a:r>
              <a:rPr lang="fr-CH" sz="900" dirty="0"/>
              <a:t>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192682912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853</Words>
  <Application>Microsoft Macintosh PowerPoint</Application>
  <PresentationFormat>Grand écran</PresentationFormat>
  <Paragraphs>90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Cambria Math</vt:lpstr>
      <vt:lpstr>Thème Office</vt:lpstr>
      <vt:lpstr>Welch-T-Test</vt:lpstr>
      <vt:lpstr>Definition</vt:lpstr>
      <vt:lpstr>Example:</vt:lpstr>
      <vt:lpstr>Process</vt:lpstr>
      <vt:lpstr>Example with data</vt:lpstr>
      <vt:lpstr>Example with data</vt:lpstr>
      <vt:lpstr>Code in Python: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Guillaume Wägli</dc:creator>
  <cp:lastModifiedBy>Guillaume Wägli</cp:lastModifiedBy>
  <cp:revision>14</cp:revision>
  <dcterms:created xsi:type="dcterms:W3CDTF">2025-08-28T09:22:25Z</dcterms:created>
  <dcterms:modified xsi:type="dcterms:W3CDTF">2025-08-28T15:30:48Z</dcterms:modified>
</cp:coreProperties>
</file>